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Instrument Sans Semi Bold"/>
      <p:regular r:id="rId16"/>
    </p:embeddedFont>
    <p:embeddedFont>
      <p:font typeface="Instrument Sans Semi Bold"/>
      <p:regular r:id="rId17"/>
    </p:embeddedFont>
    <p:embeddedFont>
      <p:font typeface="Instrument Sans Semi Bold"/>
      <p:regular r:id="rId18"/>
    </p:embeddedFont>
    <p:embeddedFont>
      <p:font typeface="Instrument Sans Semi Bold"/>
      <p:regular r:id="rId19"/>
    </p:embeddedFont>
    <p:embeddedFont>
      <p:font typeface="Instrument Sans Medium"/>
      <p:regular r:id="rId20"/>
    </p:embeddedFont>
    <p:embeddedFont>
      <p:font typeface="Instrument Sans Medium"/>
      <p:regular r:id="rId21"/>
    </p:embeddedFont>
    <p:embeddedFont>
      <p:font typeface="Instrument Sans Medium"/>
      <p:regular r:id="rId22"/>
    </p:embeddedFont>
    <p:embeddedFont>
      <p:font typeface="Instrument Sans Medium"/>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google.com/advanced_search" TargetMode="Externa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slideLayout" Target="../slideLayouts/slideLayout10.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93790" y="2155746"/>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Veille Technologique : Cybersécurité en Entreprise (2025-2026)</a:t>
            </a:r>
            <a:endParaRPr lang="en-US" sz="4450" dirty="0"/>
          </a:p>
        </p:txBody>
      </p:sp>
      <p:sp>
        <p:nvSpPr>
          <p:cNvPr id="4" name="Text 1"/>
          <p:cNvSpPr/>
          <p:nvPr/>
        </p:nvSpPr>
        <p:spPr>
          <a:xfrm>
            <a:off x="793790" y="462224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Dans un monde numérique en constante évolution, la cybersécurité est devenue un pilier essentiel pour la survie et la prospérité des entreprises. Cette présentation explore les menaces émergentes et les solutions innovantes.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3308" y="591860"/>
            <a:ext cx="13123783" cy="1345406"/>
          </a:xfrm>
          <a:prstGeom prst="rect">
            <a:avLst/>
          </a:prstGeom>
          <a:noFill/>
          <a:ln/>
        </p:spPr>
        <p:txBody>
          <a:bodyPr wrap="square" lIns="0" tIns="0" rIns="0" bIns="0" rtlCol="0" anchor="t"/>
          <a:lstStyle/>
          <a:p>
            <a:pPr algn="l" indent="0" marL="0">
              <a:lnSpc>
                <a:spcPts val="5250"/>
              </a:lnSpc>
              <a:buNone/>
            </a:pPr>
            <a:r>
              <a:rPr lang="en-US" sz="4200" dirty="0">
                <a:solidFill>
                  <a:srgbClr val="091C53"/>
                </a:solidFill>
                <a:latin typeface="Instrument Sans Semi Bold" pitchFamily="34" charset="0"/>
                <a:ea typeface="Instrument Sans Semi Bold" pitchFamily="34" charset="-122"/>
                <a:cs typeface="Instrument Sans Semi Bold" pitchFamily="34" charset="-120"/>
              </a:rPr>
              <a:t>Introduction : Les Nouveaux Défis de la Cybersécurité</a:t>
            </a:r>
            <a:endParaRPr lang="en-US" sz="4200" dirty="0"/>
          </a:p>
        </p:txBody>
      </p:sp>
      <p:sp>
        <p:nvSpPr>
          <p:cNvPr id="3" name="Text 1"/>
          <p:cNvSpPr/>
          <p:nvPr/>
        </p:nvSpPr>
        <p:spPr>
          <a:xfrm>
            <a:off x="753308" y="2453759"/>
            <a:ext cx="7664172" cy="688658"/>
          </a:xfrm>
          <a:prstGeom prst="rect">
            <a:avLst/>
          </a:prstGeom>
          <a:noFill/>
          <a:ln/>
        </p:spPr>
        <p:txBody>
          <a:bodyPr wrap="squar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La transformation numérique, le cloud, le télétravail et l'IA générative ont multiplié les surfaces d'attaque.</a:t>
            </a:r>
            <a:endParaRPr lang="en-US" sz="1650" dirty="0"/>
          </a:p>
        </p:txBody>
      </p:sp>
      <p:sp>
        <p:nvSpPr>
          <p:cNvPr id="4" name="Text 2"/>
          <p:cNvSpPr/>
          <p:nvPr/>
        </p:nvSpPr>
        <p:spPr>
          <a:xfrm>
            <a:off x="753308" y="3336131"/>
            <a:ext cx="7664172" cy="344329"/>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1E3063"/>
                </a:solidFill>
                <a:latin typeface="Instrument Sans Medium" pitchFamily="34" charset="0"/>
                <a:ea typeface="Instrument Sans Medium" pitchFamily="34" charset="-122"/>
                <a:cs typeface="Instrument Sans Medium" pitchFamily="34" charset="-120"/>
              </a:rPr>
              <a:t>Identifier les tendances et menaces émergentes.</a:t>
            </a:r>
            <a:endParaRPr lang="en-US" sz="1650" dirty="0"/>
          </a:p>
        </p:txBody>
      </p:sp>
      <p:sp>
        <p:nvSpPr>
          <p:cNvPr id="5" name="Text 3"/>
          <p:cNvSpPr/>
          <p:nvPr/>
        </p:nvSpPr>
        <p:spPr>
          <a:xfrm>
            <a:off x="753308" y="3755708"/>
            <a:ext cx="7664172" cy="344329"/>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1E3063"/>
                </a:solidFill>
                <a:latin typeface="Instrument Sans Medium" pitchFamily="34" charset="0"/>
                <a:ea typeface="Instrument Sans Medium" pitchFamily="34" charset="-122"/>
                <a:cs typeface="Instrument Sans Medium" pitchFamily="34" charset="-120"/>
              </a:rPr>
              <a:t>Présenter les technologies innovantes.</a:t>
            </a:r>
            <a:endParaRPr lang="en-US" sz="1650" dirty="0"/>
          </a:p>
        </p:txBody>
      </p:sp>
      <p:sp>
        <p:nvSpPr>
          <p:cNvPr id="6" name="Text 4"/>
          <p:cNvSpPr/>
          <p:nvPr/>
        </p:nvSpPr>
        <p:spPr>
          <a:xfrm>
            <a:off x="753308" y="4175284"/>
            <a:ext cx="7664172" cy="344329"/>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1E3063"/>
                </a:solidFill>
                <a:latin typeface="Instrument Sans Medium" pitchFamily="34" charset="0"/>
                <a:ea typeface="Instrument Sans Medium" pitchFamily="34" charset="-122"/>
                <a:cs typeface="Instrument Sans Medium" pitchFamily="34" charset="-120"/>
              </a:rPr>
              <a:t>Proposer des recommandations pour renforcer la sécurité.</a:t>
            </a:r>
            <a:endParaRPr lang="en-US" sz="1650" dirty="0"/>
          </a:p>
        </p:txBody>
      </p:sp>
      <p:sp>
        <p:nvSpPr>
          <p:cNvPr id="7" name="Text 5"/>
          <p:cNvSpPr/>
          <p:nvPr/>
        </p:nvSpPr>
        <p:spPr>
          <a:xfrm>
            <a:off x="753308" y="4713327"/>
            <a:ext cx="7664172" cy="688658"/>
          </a:xfrm>
          <a:prstGeom prst="rect">
            <a:avLst/>
          </a:prstGeom>
          <a:noFill/>
          <a:ln/>
        </p:spPr>
        <p:txBody>
          <a:bodyPr wrap="squar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Nos sources : CERT-FR, ANSSI, CISA, OWASP, SANS Institute, et outils de veille spécialisés.</a:t>
            </a:r>
            <a:endParaRPr lang="en-US" sz="1650" dirty="0"/>
          </a:p>
        </p:txBody>
      </p:sp>
      <p:pic>
        <p:nvPicPr>
          <p:cNvPr id="8" name="Image 0" descr="preencoded.png">    </p:cNvPr>
          <p:cNvPicPr>
            <a:picLocks noChangeAspect="1"/>
          </p:cNvPicPr>
          <p:nvPr/>
        </p:nvPicPr>
        <p:blipFill>
          <a:blip r:embed="rId1"/>
          <a:stretch>
            <a:fillRect/>
          </a:stretch>
        </p:blipFill>
        <p:spPr>
          <a:xfrm>
            <a:off x="8950166" y="2502098"/>
            <a:ext cx="4934426" cy="49344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52588"/>
            <a:ext cx="8042553" cy="708779"/>
          </a:xfrm>
          <a:prstGeom prst="rect">
            <a:avLst/>
          </a:prstGeom>
          <a:noFill/>
          <a:ln/>
        </p:spPr>
        <p:txBody>
          <a:bodyPr wrap="non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Outils de Veille Technologique</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814995"/>
            <a:ext cx="680442" cy="680442"/>
          </a:xfrm>
          <a:prstGeom prst="rect">
            <a:avLst/>
          </a:prstGeom>
        </p:spPr>
      </p:pic>
      <p:sp>
        <p:nvSpPr>
          <p:cNvPr id="4" name="Text 1"/>
          <p:cNvSpPr/>
          <p:nvPr/>
        </p:nvSpPr>
        <p:spPr>
          <a:xfrm>
            <a:off x="793790" y="3778925"/>
            <a:ext cx="3128129"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Google &amp; Google Alerts</a:t>
            </a:r>
            <a:endParaRPr lang="en-US" sz="2200" dirty="0"/>
          </a:p>
        </p:txBody>
      </p:sp>
      <p:sp>
        <p:nvSpPr>
          <p:cNvPr id="5" name="Text 2"/>
          <p:cNvSpPr/>
          <p:nvPr/>
        </p:nvSpPr>
        <p:spPr>
          <a:xfrm>
            <a:off x="793790" y="4269343"/>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Recherche avancée et alertes quotidiennes pour les actualités cybersécurité.</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893" y="2814995"/>
            <a:ext cx="680442" cy="680442"/>
          </a:xfrm>
          <a:prstGeom prst="rect">
            <a:avLst/>
          </a:prstGeom>
        </p:spPr>
      </p:pic>
      <p:sp>
        <p:nvSpPr>
          <p:cNvPr id="7" name="Text 3"/>
          <p:cNvSpPr/>
          <p:nvPr/>
        </p:nvSpPr>
        <p:spPr>
          <a:xfrm>
            <a:off x="5235893" y="37789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Sources Officielles</a:t>
            </a:r>
            <a:endParaRPr lang="en-US" sz="2200" dirty="0"/>
          </a:p>
        </p:txBody>
      </p:sp>
      <p:sp>
        <p:nvSpPr>
          <p:cNvPr id="8" name="Text 4"/>
          <p:cNvSpPr/>
          <p:nvPr/>
        </p:nvSpPr>
        <p:spPr>
          <a:xfrm>
            <a:off x="5235893" y="4269343"/>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ANSSI, CERT-FR, CISA, Cybermalveillance.gouv.fr pour l'information fiable.</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7995" y="2814995"/>
            <a:ext cx="680442" cy="680442"/>
          </a:xfrm>
          <a:prstGeom prst="rect">
            <a:avLst/>
          </a:prstGeom>
        </p:spPr>
      </p:pic>
      <p:sp>
        <p:nvSpPr>
          <p:cNvPr id="10" name="Text 5"/>
          <p:cNvSpPr/>
          <p:nvPr/>
        </p:nvSpPr>
        <p:spPr>
          <a:xfrm>
            <a:off x="9677995" y="37789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Outils d'Analyse</a:t>
            </a:r>
            <a:endParaRPr lang="en-US" sz="2200" dirty="0"/>
          </a:p>
        </p:txBody>
      </p:sp>
      <p:sp>
        <p:nvSpPr>
          <p:cNvPr id="11" name="Text 6"/>
          <p:cNvSpPr/>
          <p:nvPr/>
        </p:nvSpPr>
        <p:spPr>
          <a:xfrm>
            <a:off x="9677995" y="4269343"/>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Syft, CycloneDX CLI, Anchore Grype, Trivy pour l'analyse de vulnérabilités.</a:t>
            </a:r>
            <a:endParaRPr lang="en-US" sz="1750" dirty="0"/>
          </a:p>
        </p:txBody>
      </p:sp>
      <p:sp>
        <p:nvSpPr>
          <p:cNvPr id="12" name="Shape 7"/>
          <p:cNvSpPr/>
          <p:nvPr/>
        </p:nvSpPr>
        <p:spPr>
          <a:xfrm>
            <a:off x="793790" y="5613202"/>
            <a:ext cx="13042821" cy="963811"/>
          </a:xfrm>
          <a:prstGeom prst="roundRect">
            <a:avLst>
              <a:gd name="adj" fmla="val 21181"/>
            </a:avLst>
          </a:prstGeom>
          <a:solidFill>
            <a:srgbClr val="B5DAFC"/>
          </a:solidFill>
          <a:ln/>
        </p:spPr>
      </p:sp>
      <p:pic>
        <p:nvPicPr>
          <p:cNvPr id="13" name="Image 3" descr="preencoded.png">    </p:cNvPr>
          <p:cNvPicPr>
            <a:picLocks noChangeAspect="1"/>
          </p:cNvPicPr>
          <p:nvPr/>
        </p:nvPicPr>
        <p:blipFill>
          <a:blip r:embed="rId7"/>
          <a:stretch>
            <a:fillRect/>
          </a:stretch>
        </p:blipFill>
        <p:spPr>
          <a:xfrm>
            <a:off x="1020604" y="5957292"/>
            <a:ext cx="283488" cy="226814"/>
          </a:xfrm>
          <a:prstGeom prst="rect">
            <a:avLst/>
          </a:prstGeom>
        </p:spPr>
      </p:pic>
      <p:sp>
        <p:nvSpPr>
          <p:cNvPr id="14" name="Text 8"/>
          <p:cNvSpPr/>
          <p:nvPr/>
        </p:nvSpPr>
        <p:spPr>
          <a:xfrm>
            <a:off x="1530906" y="5896689"/>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Fréquence : Collecte quotidienne, Synthèse hebdomadaire, Analyse mensuelle.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055263" y="370403"/>
            <a:ext cx="6170533" cy="420886"/>
          </a:xfrm>
          <a:prstGeom prst="rect">
            <a:avLst/>
          </a:prstGeom>
          <a:noFill/>
          <a:ln/>
        </p:spPr>
        <p:txBody>
          <a:bodyPr wrap="none" lIns="0" tIns="0" rIns="0" bIns="0" rtlCol="0" anchor="t"/>
          <a:lstStyle/>
          <a:p>
            <a:pPr algn="l" indent="0" marL="0">
              <a:lnSpc>
                <a:spcPts val="3300"/>
              </a:lnSpc>
              <a:buNone/>
            </a:pPr>
            <a:r>
              <a:rPr lang="en-US" sz="2650" dirty="0">
                <a:solidFill>
                  <a:srgbClr val="091C53"/>
                </a:solidFill>
                <a:latin typeface="Instrument Sans Semi Bold" pitchFamily="34" charset="0"/>
                <a:ea typeface="Instrument Sans Semi Bold" pitchFamily="34" charset="-122"/>
                <a:cs typeface="Instrument Sans Semi Bold" pitchFamily="34" charset="-120"/>
              </a:rPr>
              <a:t>Maîtriser la Recherche Avancée Google</a:t>
            </a:r>
            <a:endParaRPr lang="en-US" sz="2650" dirty="0"/>
          </a:p>
        </p:txBody>
      </p:sp>
      <p:sp>
        <p:nvSpPr>
          <p:cNvPr id="3" name="Text 1"/>
          <p:cNvSpPr/>
          <p:nvPr/>
        </p:nvSpPr>
        <p:spPr>
          <a:xfrm>
            <a:off x="3055263" y="1060609"/>
            <a:ext cx="8519755" cy="215384"/>
          </a:xfrm>
          <a:prstGeom prst="rect">
            <a:avLst/>
          </a:prstGeom>
          <a:noFill/>
          <a:ln/>
        </p:spPr>
        <p:txBody>
          <a:bodyPr wrap="none" lIns="0" tIns="0" rIns="0" bIns="0" rtlCol="0" anchor="t"/>
          <a:lstStyle/>
          <a:p>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Une fonctionnalité essentielle pour affiner et cibler les résultats de veille technologique.</a:t>
            </a:r>
            <a:endParaRPr lang="en-US" sz="1050" dirty="0"/>
          </a:p>
        </p:txBody>
      </p:sp>
      <p:sp>
        <p:nvSpPr>
          <p:cNvPr id="4" name="Text 2"/>
          <p:cNvSpPr/>
          <p:nvPr/>
        </p:nvSpPr>
        <p:spPr>
          <a:xfrm>
            <a:off x="3055263" y="1562100"/>
            <a:ext cx="2164080" cy="210383"/>
          </a:xfrm>
          <a:prstGeom prst="rect">
            <a:avLst/>
          </a:prstGeom>
          <a:noFill/>
          <a:ln/>
        </p:spPr>
        <p:txBody>
          <a:bodyPr wrap="none" lIns="0" tIns="0" rIns="0" bIns="0" rtlCol="0" anchor="t"/>
          <a:lstStyle/>
          <a:p>
            <a:pPr algn="l" indent="0" marL="0">
              <a:lnSpc>
                <a:spcPts val="1650"/>
              </a:lnSpc>
              <a:buNone/>
            </a:pPr>
            <a:r>
              <a:rPr lang="en-US" sz="1300" dirty="0">
                <a:solidFill>
                  <a:srgbClr val="091C53"/>
                </a:solidFill>
                <a:latin typeface="Instrument Sans Semi Bold" pitchFamily="34" charset="0"/>
                <a:ea typeface="Instrument Sans Semi Bold" pitchFamily="34" charset="-122"/>
                <a:cs typeface="Instrument Sans Semi Bold" pitchFamily="34" charset="-120"/>
              </a:rPr>
              <a:t>Page de recherche avancée</a:t>
            </a:r>
            <a:endParaRPr lang="en-US" sz="1300" dirty="0"/>
          </a:p>
        </p:txBody>
      </p:sp>
      <p:sp>
        <p:nvSpPr>
          <p:cNvPr id="5" name="Text 3"/>
          <p:cNvSpPr/>
          <p:nvPr/>
        </p:nvSpPr>
        <p:spPr>
          <a:xfrm>
            <a:off x="3055263" y="1907143"/>
            <a:ext cx="4095512"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1E3063"/>
                </a:solidFill>
                <a:latin typeface="Instrument Sans Medium" pitchFamily="34" charset="0"/>
                <a:ea typeface="Instrument Sans Medium" pitchFamily="34" charset="-122"/>
                <a:cs typeface="Instrument Sans Medium" pitchFamily="34" charset="-120"/>
              </a:rPr>
              <a:t>Interface dédiée : </a:t>
            </a:r>
            <a:pPr algn="l" indent="0" marL="0">
              <a:lnSpc>
                <a:spcPts val="1650"/>
              </a:lnSpc>
              <a:buNone/>
            </a:pPr>
            <a:r>
              <a:rPr lang="en-US" sz="1050" u="sng" dirty="0">
                <a:solidFill>
                  <a:srgbClr val="0540AD"/>
                </a:solidFill>
                <a:latin typeface="Instrument Sans Medium" pitchFamily="34" charset="0"/>
                <a:ea typeface="Instrument Sans Medium" pitchFamily="34" charset="-122"/>
                <a:cs typeface="Instrument Sans Medium"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google.com/advanced_search</a:t>
            </a:r>
            <a:endParaRPr lang="en-US" sz="1050" dirty="0"/>
          </a:p>
        </p:txBody>
      </p:sp>
      <p:sp>
        <p:nvSpPr>
          <p:cNvPr id="6" name="Text 4"/>
          <p:cNvSpPr/>
          <p:nvPr/>
        </p:nvSpPr>
        <p:spPr>
          <a:xfrm>
            <a:off x="3055263" y="2169557"/>
            <a:ext cx="4095512"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1E3063"/>
                </a:solidFill>
                <a:latin typeface="Instrument Sans Medium" pitchFamily="34" charset="0"/>
                <a:ea typeface="Instrument Sans Medium" pitchFamily="34" charset="-122"/>
                <a:cs typeface="Instrument Sans Medium" pitchFamily="34" charset="-120"/>
              </a:rPr>
              <a:t>Recherche d'expressions exactes.</a:t>
            </a:r>
            <a:endParaRPr lang="en-US" sz="1050" dirty="0"/>
          </a:p>
        </p:txBody>
      </p:sp>
      <p:sp>
        <p:nvSpPr>
          <p:cNvPr id="7" name="Text 5"/>
          <p:cNvSpPr/>
          <p:nvPr/>
        </p:nvSpPr>
        <p:spPr>
          <a:xfrm>
            <a:off x="3055263" y="2431971"/>
            <a:ext cx="4095512"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1E3063"/>
                </a:solidFill>
                <a:latin typeface="Instrument Sans Medium" pitchFamily="34" charset="0"/>
                <a:ea typeface="Instrument Sans Medium" pitchFamily="34" charset="-122"/>
                <a:cs typeface="Instrument Sans Medium" pitchFamily="34" charset="-120"/>
              </a:rPr>
              <a:t>Exclusion de mots spécifiques.</a:t>
            </a:r>
            <a:endParaRPr lang="en-US" sz="1050" dirty="0"/>
          </a:p>
        </p:txBody>
      </p:sp>
      <p:sp>
        <p:nvSpPr>
          <p:cNvPr id="8" name="Text 6"/>
          <p:cNvSpPr/>
          <p:nvPr/>
        </p:nvSpPr>
        <p:spPr>
          <a:xfrm>
            <a:off x="3055263" y="2694384"/>
            <a:ext cx="4095512"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1E3063"/>
                </a:solidFill>
                <a:latin typeface="Instrument Sans Medium" pitchFamily="34" charset="0"/>
                <a:ea typeface="Instrument Sans Medium" pitchFamily="34" charset="-122"/>
                <a:cs typeface="Instrument Sans Medium" pitchFamily="34" charset="-120"/>
              </a:rPr>
              <a:t>Filtrage par langue, région, site web, et date.</a:t>
            </a:r>
            <a:endParaRPr lang="en-US" sz="1050" dirty="0"/>
          </a:p>
        </p:txBody>
      </p:sp>
      <p:pic>
        <p:nvPicPr>
          <p:cNvPr id="9" name="Image 0" descr="preencoded.png">    </p:cNvPr>
          <p:cNvPicPr>
            <a:picLocks noChangeAspect="1"/>
          </p:cNvPicPr>
          <p:nvPr/>
        </p:nvPicPr>
        <p:blipFill>
          <a:blip r:embed="rId2"/>
          <a:stretch>
            <a:fillRect/>
          </a:stretch>
        </p:blipFill>
        <p:spPr>
          <a:xfrm>
            <a:off x="3055263" y="3061216"/>
            <a:ext cx="4095512" cy="4095512"/>
          </a:xfrm>
          <a:prstGeom prst="rect">
            <a:avLst/>
          </a:prstGeom>
        </p:spPr>
      </p:pic>
      <p:sp>
        <p:nvSpPr>
          <p:cNvPr id="10" name="Text 7"/>
          <p:cNvSpPr/>
          <p:nvPr/>
        </p:nvSpPr>
        <p:spPr>
          <a:xfrm>
            <a:off x="7487007" y="1562100"/>
            <a:ext cx="1971556" cy="210383"/>
          </a:xfrm>
          <a:prstGeom prst="rect">
            <a:avLst/>
          </a:prstGeom>
          <a:noFill/>
          <a:ln/>
        </p:spPr>
        <p:txBody>
          <a:bodyPr wrap="none" lIns="0" tIns="0" rIns="0" bIns="0" rtlCol="0" anchor="t"/>
          <a:lstStyle/>
          <a:p>
            <a:pPr algn="l" indent="0" marL="0">
              <a:lnSpc>
                <a:spcPts val="1650"/>
              </a:lnSpc>
              <a:buNone/>
            </a:pPr>
            <a:r>
              <a:rPr lang="en-US" sz="1300" dirty="0">
                <a:solidFill>
                  <a:srgbClr val="091C53"/>
                </a:solidFill>
                <a:latin typeface="Instrument Sans Semi Bold" pitchFamily="34" charset="0"/>
                <a:ea typeface="Instrument Sans Semi Bold" pitchFamily="34" charset="-122"/>
                <a:cs typeface="Instrument Sans Semi Bold" pitchFamily="34" charset="-120"/>
              </a:rPr>
              <a:t>Opérateurs de recherche</a:t>
            </a:r>
            <a:endParaRPr lang="en-US" sz="1300" dirty="0"/>
          </a:p>
        </p:txBody>
      </p:sp>
      <p:sp>
        <p:nvSpPr>
          <p:cNvPr id="11" name="Text 8"/>
          <p:cNvSpPr/>
          <p:nvPr/>
        </p:nvSpPr>
        <p:spPr>
          <a:xfrm>
            <a:off x="7487007" y="1907143"/>
            <a:ext cx="4095512" cy="215384"/>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1E3063"/>
                </a:solidFill>
                <a:latin typeface="Instrument Sans Medium" pitchFamily="34" charset="0"/>
                <a:ea typeface="Instrument Sans Medium" pitchFamily="34" charset="-122"/>
                <a:cs typeface="Instrument Sans Medium" pitchFamily="34" charset="-120"/>
              </a:rPr>
              <a:t>"mot clé"</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 Recherche exacte.</a:t>
            </a:r>
            <a:endParaRPr lang="en-US" sz="1050" dirty="0"/>
          </a:p>
        </p:txBody>
      </p:sp>
      <p:sp>
        <p:nvSpPr>
          <p:cNvPr id="12" name="Text 9"/>
          <p:cNvSpPr/>
          <p:nvPr/>
        </p:nvSpPr>
        <p:spPr>
          <a:xfrm>
            <a:off x="7487007" y="2169557"/>
            <a:ext cx="4095512" cy="230624"/>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1E3063"/>
                </a:solidFill>
                <a:latin typeface="Instrument Sans Medium" pitchFamily="34" charset="0"/>
                <a:ea typeface="Instrument Sans Medium" pitchFamily="34" charset="-122"/>
                <a:cs typeface="Instrument Sans Medium" pitchFamily="34" charset="-120"/>
              </a:rPr>
              <a:t>site:</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 Cibler un site (ex: </a:t>
            </a:r>
            <a:pPr algn="l" indent="0" marL="0">
              <a:lnSpc>
                <a:spcPts val="1650"/>
              </a:lnSpc>
              <a:buNone/>
            </a:pPr>
            <a:r>
              <a:rPr lang="en-US" sz="1050" dirty="0">
                <a:solidFill>
                  <a:srgbClr val="1E3063"/>
                </a:solidFill>
                <a:highlight>
                  <a:srgbClr val="F2F2F2"/>
                </a:highlight>
                <a:latin typeface="Consolas" pitchFamily="34" charset="0"/>
                <a:ea typeface="Consolas" pitchFamily="34" charset="-122"/>
                <a:cs typeface="Consolas" pitchFamily="34" charset="-120"/>
              </a:rPr>
              <a:t>site:lemonde.fr cybersécurité</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a:t>
            </a:r>
            <a:endParaRPr lang="en-US" sz="1050" dirty="0"/>
          </a:p>
        </p:txBody>
      </p:sp>
      <p:sp>
        <p:nvSpPr>
          <p:cNvPr id="13" name="Text 10"/>
          <p:cNvSpPr/>
          <p:nvPr/>
        </p:nvSpPr>
        <p:spPr>
          <a:xfrm>
            <a:off x="7487007" y="2447211"/>
            <a:ext cx="4095512" cy="461248"/>
          </a:xfrm>
          <a:prstGeom prst="rect">
            <a:avLst/>
          </a:prstGeom>
          <a:noFill/>
          <a:ln/>
        </p:spPr>
        <p:txBody>
          <a:bodyPr wrap="square" lIns="0" tIns="0" rIns="0" bIns="0" rtlCol="0" anchor="t"/>
          <a:lstStyle/>
          <a:p>
            <a:pPr algn="l" marL="342900" indent="-342900">
              <a:lnSpc>
                <a:spcPts val="1650"/>
              </a:lnSpc>
              <a:buSzPct val="100000"/>
              <a:buChar char="•"/>
            </a:pPr>
            <a:r>
              <a:rPr lang="en-US" sz="1050" b="1" dirty="0">
                <a:solidFill>
                  <a:srgbClr val="1E3063"/>
                </a:solidFill>
                <a:latin typeface="Instrument Sans Medium" pitchFamily="34" charset="0"/>
                <a:ea typeface="Instrument Sans Medium" pitchFamily="34" charset="-122"/>
                <a:cs typeface="Instrument Sans Medium" pitchFamily="34" charset="-120"/>
              </a:rPr>
              <a:t>filetype:</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 Chercher des formats spécifiques (ex: </a:t>
            </a:r>
            <a:pPr algn="l" indent="0" marL="0">
              <a:lnSpc>
                <a:spcPts val="1650"/>
              </a:lnSpc>
              <a:buNone/>
            </a:pPr>
            <a:r>
              <a:rPr lang="en-US" sz="1050" dirty="0">
                <a:solidFill>
                  <a:srgbClr val="1E3063"/>
                </a:solidFill>
                <a:highlight>
                  <a:srgbClr val="F2F2F2"/>
                </a:highlight>
                <a:latin typeface="Consolas" pitchFamily="34" charset="0"/>
                <a:ea typeface="Consolas" pitchFamily="34" charset="-122"/>
                <a:cs typeface="Consolas" pitchFamily="34" charset="-120"/>
              </a:rPr>
              <a:t>filetype:pdf blockchain</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a:t>
            </a:r>
            <a:endParaRPr lang="en-US" sz="1050" dirty="0"/>
          </a:p>
        </p:txBody>
      </p:sp>
      <p:sp>
        <p:nvSpPr>
          <p:cNvPr id="14" name="Text 11"/>
          <p:cNvSpPr/>
          <p:nvPr/>
        </p:nvSpPr>
        <p:spPr>
          <a:xfrm>
            <a:off x="7487007" y="2955488"/>
            <a:ext cx="4095512" cy="230624"/>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1E3063"/>
                </a:solidFill>
                <a:latin typeface="Instrument Sans Medium" pitchFamily="34" charset="0"/>
                <a:ea typeface="Instrument Sans Medium" pitchFamily="34" charset="-122"/>
                <a:cs typeface="Instrument Sans Medium" pitchFamily="34" charset="-120"/>
              </a:rPr>
              <a:t>-mot</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 Exclure un terme (ex: </a:t>
            </a:r>
            <a:pPr algn="l" indent="0" marL="0">
              <a:lnSpc>
                <a:spcPts val="1650"/>
              </a:lnSpc>
              <a:buNone/>
            </a:pPr>
            <a:r>
              <a:rPr lang="en-US" sz="1050" dirty="0">
                <a:solidFill>
                  <a:srgbClr val="1E3063"/>
                </a:solidFill>
                <a:highlight>
                  <a:srgbClr val="F2F2F2"/>
                </a:highlight>
                <a:latin typeface="Consolas" pitchFamily="34" charset="0"/>
                <a:ea typeface="Consolas" pitchFamily="34" charset="-122"/>
                <a:cs typeface="Consolas" pitchFamily="34" charset="-120"/>
              </a:rPr>
              <a:t>cloud -météo</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a:t>
            </a:r>
            <a:endParaRPr lang="en-US" sz="1050" dirty="0"/>
          </a:p>
        </p:txBody>
      </p:sp>
      <p:sp>
        <p:nvSpPr>
          <p:cNvPr id="15" name="Text 12"/>
          <p:cNvSpPr/>
          <p:nvPr/>
        </p:nvSpPr>
        <p:spPr>
          <a:xfrm>
            <a:off x="7487007" y="3233142"/>
            <a:ext cx="4095512" cy="230624"/>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1E3063"/>
                </a:solidFill>
                <a:latin typeface="Instrument Sans Medium" pitchFamily="34" charset="0"/>
                <a:ea typeface="Instrument Sans Medium" pitchFamily="34" charset="-122"/>
                <a:cs typeface="Instrument Sans Medium" pitchFamily="34" charset="-120"/>
              </a:rPr>
              <a:t>OR</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 : Alternative (ex: </a:t>
            </a:r>
            <a:pPr algn="l" indent="0" marL="0">
              <a:lnSpc>
                <a:spcPts val="1650"/>
              </a:lnSpc>
              <a:buNone/>
            </a:pPr>
            <a:r>
              <a:rPr lang="en-US" sz="1050" dirty="0">
                <a:solidFill>
                  <a:srgbClr val="1E3063"/>
                </a:solidFill>
                <a:highlight>
                  <a:srgbClr val="F2F2F2"/>
                </a:highlight>
                <a:latin typeface="Consolas" pitchFamily="34" charset="0"/>
                <a:ea typeface="Consolas" pitchFamily="34" charset="-122"/>
                <a:cs typeface="Consolas" pitchFamily="34" charset="-120"/>
              </a:rPr>
              <a:t>IA OR intelligence artificielle</a:t>
            </a:r>
            <a:pPr algn="l" indent="0" marL="0">
              <a:lnSpc>
                <a:spcPts val="165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a:t>
            </a:r>
            <a:endParaRPr lang="en-US" sz="1050" dirty="0"/>
          </a:p>
        </p:txBody>
      </p:sp>
      <p:pic>
        <p:nvPicPr>
          <p:cNvPr id="16" name="Image 1" descr="preencoded.png">    </p:cNvPr>
          <p:cNvPicPr>
            <a:picLocks noChangeAspect="1"/>
          </p:cNvPicPr>
          <p:nvPr/>
        </p:nvPicPr>
        <p:blipFill>
          <a:blip r:embed="rId3"/>
          <a:stretch>
            <a:fillRect/>
          </a:stretch>
        </p:blipFill>
        <p:spPr>
          <a:xfrm>
            <a:off x="7487007" y="3615214"/>
            <a:ext cx="4095512" cy="40955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91183" y="715923"/>
            <a:ext cx="9784675" cy="634722"/>
          </a:xfrm>
          <a:prstGeom prst="rect">
            <a:avLst/>
          </a:prstGeom>
          <a:noFill/>
          <a:ln/>
        </p:spPr>
        <p:txBody>
          <a:bodyPr wrap="none" lIns="0" tIns="0" rIns="0" bIns="0" rtlCol="0" anchor="t"/>
          <a:lstStyle/>
          <a:p>
            <a:pPr algn="l" indent="0" marL="0">
              <a:lnSpc>
                <a:spcPts val="4950"/>
              </a:lnSpc>
              <a:buNone/>
            </a:pPr>
            <a:r>
              <a:rPr lang="en-US" sz="3950" dirty="0">
                <a:solidFill>
                  <a:srgbClr val="091C53"/>
                </a:solidFill>
                <a:latin typeface="Instrument Sans Semi Bold" pitchFamily="34" charset="0"/>
                <a:ea typeface="Instrument Sans Semi Bold" pitchFamily="34" charset="-122"/>
                <a:cs typeface="Instrument Sans Semi Bold" pitchFamily="34" charset="-120"/>
              </a:rPr>
              <a:t>Paramétrage et Méthodologie de la Veille</a:t>
            </a:r>
            <a:endParaRPr lang="en-US" sz="3950" dirty="0"/>
          </a:p>
        </p:txBody>
      </p:sp>
      <p:sp>
        <p:nvSpPr>
          <p:cNvPr id="3" name="Text 1"/>
          <p:cNvSpPr/>
          <p:nvPr/>
        </p:nvSpPr>
        <p:spPr>
          <a:xfrm>
            <a:off x="891183" y="1858447"/>
            <a:ext cx="3900845" cy="380762"/>
          </a:xfrm>
          <a:prstGeom prst="rect">
            <a:avLst/>
          </a:prstGeom>
          <a:noFill/>
          <a:ln/>
        </p:spPr>
        <p:txBody>
          <a:bodyPr wrap="none" lIns="0" tIns="0" rIns="0" bIns="0" rtlCol="0" anchor="t"/>
          <a:lstStyle/>
          <a:p>
            <a:pPr algn="l" indent="0" marL="0">
              <a:lnSpc>
                <a:spcPts val="2950"/>
              </a:lnSpc>
              <a:buNone/>
            </a:pPr>
            <a:r>
              <a:rPr lang="en-US" sz="2350" dirty="0">
                <a:solidFill>
                  <a:srgbClr val="091C53"/>
                </a:solidFill>
                <a:latin typeface="Instrument Sans Semi Bold" pitchFamily="34" charset="0"/>
                <a:ea typeface="Instrument Sans Semi Bold" pitchFamily="34" charset="-122"/>
                <a:cs typeface="Instrument Sans Semi Bold" pitchFamily="34" charset="-120"/>
              </a:rPr>
              <a:t>Paramétrage Google Alerts</a:t>
            </a:r>
            <a:endParaRPr lang="en-US" sz="2350" dirty="0"/>
          </a:p>
        </p:txBody>
      </p:sp>
      <p:sp>
        <p:nvSpPr>
          <p:cNvPr id="4" name="Text 2"/>
          <p:cNvSpPr/>
          <p:nvPr/>
        </p:nvSpPr>
        <p:spPr>
          <a:xfrm>
            <a:off x="891183" y="2442329"/>
            <a:ext cx="6176129" cy="649843"/>
          </a:xfrm>
          <a:prstGeom prst="rect">
            <a:avLst/>
          </a:prstGeom>
          <a:noFill/>
          <a:ln/>
        </p:spPr>
        <p:txBody>
          <a:bodyPr wrap="squar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Mots-clés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ransomware entreprise, cybersécurité PME, CVE critique, attaque supply chain, phishing IA.</a:t>
            </a:r>
            <a:endParaRPr lang="en-US" sz="1550" dirty="0"/>
          </a:p>
        </p:txBody>
      </p:sp>
      <p:sp>
        <p:nvSpPr>
          <p:cNvPr id="5" name="Text 3"/>
          <p:cNvSpPr/>
          <p:nvPr/>
        </p:nvSpPr>
        <p:spPr>
          <a:xfrm>
            <a:off x="891183" y="3163253"/>
            <a:ext cx="6176129" cy="324922"/>
          </a:xfrm>
          <a:prstGeom prst="rect">
            <a:avLst/>
          </a:prstGeom>
          <a:noFill/>
          <a:ln/>
        </p:spPr>
        <p:txBody>
          <a:bodyPr wrap="non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Langue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Français / Anglais.</a:t>
            </a:r>
            <a:endParaRPr lang="en-US" sz="1550" dirty="0"/>
          </a:p>
        </p:txBody>
      </p:sp>
      <p:sp>
        <p:nvSpPr>
          <p:cNvPr id="6" name="Text 4"/>
          <p:cNvSpPr/>
          <p:nvPr/>
        </p:nvSpPr>
        <p:spPr>
          <a:xfrm>
            <a:off x="891183" y="3559254"/>
            <a:ext cx="6176129" cy="324922"/>
          </a:xfrm>
          <a:prstGeom prst="rect">
            <a:avLst/>
          </a:prstGeom>
          <a:noFill/>
          <a:ln/>
        </p:spPr>
        <p:txBody>
          <a:bodyPr wrap="non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Zone géographique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Monde.</a:t>
            </a:r>
            <a:endParaRPr lang="en-US" sz="1550" dirty="0"/>
          </a:p>
        </p:txBody>
      </p:sp>
      <p:sp>
        <p:nvSpPr>
          <p:cNvPr id="7" name="Text 5"/>
          <p:cNvSpPr/>
          <p:nvPr/>
        </p:nvSpPr>
        <p:spPr>
          <a:xfrm>
            <a:off x="891183" y="3955256"/>
            <a:ext cx="6176129" cy="324922"/>
          </a:xfrm>
          <a:prstGeom prst="rect">
            <a:avLst/>
          </a:prstGeom>
          <a:noFill/>
          <a:ln/>
        </p:spPr>
        <p:txBody>
          <a:bodyPr wrap="non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Fréquence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Quotidienne.</a:t>
            </a:r>
            <a:endParaRPr lang="en-US" sz="1550" dirty="0"/>
          </a:p>
        </p:txBody>
      </p:sp>
      <p:sp>
        <p:nvSpPr>
          <p:cNvPr id="8" name="Text 6"/>
          <p:cNvSpPr/>
          <p:nvPr/>
        </p:nvSpPr>
        <p:spPr>
          <a:xfrm>
            <a:off x="891183" y="4351258"/>
            <a:ext cx="6176129" cy="324922"/>
          </a:xfrm>
          <a:prstGeom prst="rect">
            <a:avLst/>
          </a:prstGeom>
          <a:noFill/>
          <a:ln/>
        </p:spPr>
        <p:txBody>
          <a:bodyPr wrap="non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Sources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Actualités, blogs, rapports.</a:t>
            </a:r>
            <a:endParaRPr lang="en-US" sz="1550" dirty="0"/>
          </a:p>
        </p:txBody>
      </p:sp>
      <p:sp>
        <p:nvSpPr>
          <p:cNvPr id="9" name="Text 7"/>
          <p:cNvSpPr/>
          <p:nvPr/>
        </p:nvSpPr>
        <p:spPr>
          <a:xfrm>
            <a:off x="891183" y="4747260"/>
            <a:ext cx="6176129" cy="324922"/>
          </a:xfrm>
          <a:prstGeom prst="rect">
            <a:avLst/>
          </a:prstGeom>
          <a:noFill/>
          <a:ln/>
        </p:spPr>
        <p:txBody>
          <a:bodyPr wrap="none" lIns="0" tIns="0" rIns="0" bIns="0" rtlCol="0" anchor="t"/>
          <a:lstStyle/>
          <a:p>
            <a:pPr algn="l" marL="342900" indent="-342900">
              <a:lnSpc>
                <a:spcPts val="2550"/>
              </a:lnSpc>
              <a:buSzPct val="100000"/>
              <a:buChar char="•"/>
            </a:pPr>
            <a:r>
              <a:rPr lang="en-US" sz="1550" b="1" dirty="0">
                <a:solidFill>
                  <a:srgbClr val="1E3063"/>
                </a:solidFill>
                <a:latin typeface="Instrument Sans Medium" pitchFamily="34" charset="0"/>
                <a:ea typeface="Instrument Sans Medium" pitchFamily="34" charset="-122"/>
                <a:cs typeface="Instrument Sans Medium" pitchFamily="34" charset="-120"/>
              </a:rPr>
              <a:t>Réception :</a:t>
            </a:r>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 Email.</a:t>
            </a:r>
            <a:endParaRPr lang="en-US" sz="1550" dirty="0"/>
          </a:p>
        </p:txBody>
      </p:sp>
      <p:sp>
        <p:nvSpPr>
          <p:cNvPr id="10" name="Text 8"/>
          <p:cNvSpPr/>
          <p:nvPr/>
        </p:nvSpPr>
        <p:spPr>
          <a:xfrm>
            <a:off x="7570470" y="1858447"/>
            <a:ext cx="3278624" cy="380762"/>
          </a:xfrm>
          <a:prstGeom prst="rect">
            <a:avLst/>
          </a:prstGeom>
          <a:noFill/>
          <a:ln/>
        </p:spPr>
        <p:txBody>
          <a:bodyPr wrap="none" lIns="0" tIns="0" rIns="0" bIns="0" rtlCol="0" anchor="t"/>
          <a:lstStyle/>
          <a:p>
            <a:pPr algn="l" indent="0" marL="0">
              <a:lnSpc>
                <a:spcPts val="2950"/>
              </a:lnSpc>
              <a:buNone/>
            </a:pPr>
            <a:r>
              <a:rPr lang="en-US" sz="2350" dirty="0">
                <a:solidFill>
                  <a:srgbClr val="091C53"/>
                </a:solidFill>
                <a:latin typeface="Instrument Sans Semi Bold" pitchFamily="34" charset="0"/>
                <a:ea typeface="Instrument Sans Semi Bold" pitchFamily="34" charset="-122"/>
                <a:cs typeface="Instrument Sans Semi Bold" pitchFamily="34" charset="-120"/>
              </a:rPr>
              <a:t>Méthodologie de Veille</a:t>
            </a:r>
            <a:endParaRPr lang="en-US" sz="2350" dirty="0"/>
          </a:p>
        </p:txBody>
      </p:sp>
      <p:sp>
        <p:nvSpPr>
          <p:cNvPr id="11" name="Shape 9"/>
          <p:cNvSpPr/>
          <p:nvPr/>
        </p:nvSpPr>
        <p:spPr>
          <a:xfrm>
            <a:off x="7570470" y="2467689"/>
            <a:ext cx="6176129" cy="4817507"/>
          </a:xfrm>
          <a:prstGeom prst="roundRect">
            <a:avLst>
              <a:gd name="adj" fmla="val 3795"/>
            </a:avLst>
          </a:prstGeom>
          <a:noFill/>
          <a:ln w="7620">
            <a:solidFill>
              <a:srgbClr val="000000">
                <a:alpha val="8000"/>
              </a:srgbClr>
            </a:solidFill>
            <a:prstDash val="solid"/>
          </a:ln>
        </p:spPr>
      </p:sp>
      <p:sp>
        <p:nvSpPr>
          <p:cNvPr id="12" name="Shape 10"/>
          <p:cNvSpPr/>
          <p:nvPr/>
        </p:nvSpPr>
        <p:spPr>
          <a:xfrm>
            <a:off x="7578090" y="2475309"/>
            <a:ext cx="6160889" cy="583763"/>
          </a:xfrm>
          <a:prstGeom prst="rect">
            <a:avLst/>
          </a:prstGeom>
          <a:solidFill>
            <a:srgbClr val="FFFFFF">
              <a:alpha val="4000"/>
            </a:srgbClr>
          </a:solidFill>
          <a:ln/>
        </p:spPr>
      </p:sp>
      <p:sp>
        <p:nvSpPr>
          <p:cNvPr id="13" name="Text 11"/>
          <p:cNvSpPr/>
          <p:nvPr/>
        </p:nvSpPr>
        <p:spPr>
          <a:xfrm>
            <a:off x="7781330" y="2604730"/>
            <a:ext cx="822127" cy="324922"/>
          </a:xfrm>
          <a:prstGeom prst="rect">
            <a:avLst/>
          </a:prstGeom>
          <a:noFill/>
          <a:ln/>
        </p:spPr>
        <p:txBody>
          <a:bodyPr wrap="none" lIns="0" tIns="0" rIns="0" bIns="0" rtlCol="0" anchor="t"/>
          <a:lstStyle/>
          <a:p>
            <a:pPr algn="l" indent="0" marL="0">
              <a:lnSpc>
                <a:spcPts val="255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Étape</a:t>
            </a:r>
            <a:endParaRPr lang="en-US" sz="1550" dirty="0"/>
          </a:p>
        </p:txBody>
      </p:sp>
      <p:sp>
        <p:nvSpPr>
          <p:cNvPr id="14" name="Text 12"/>
          <p:cNvSpPr/>
          <p:nvPr/>
        </p:nvSpPr>
        <p:spPr>
          <a:xfrm>
            <a:off x="9017318" y="2604730"/>
            <a:ext cx="2666524" cy="324922"/>
          </a:xfrm>
          <a:prstGeom prst="rect">
            <a:avLst/>
          </a:prstGeom>
          <a:noFill/>
          <a:ln/>
        </p:spPr>
        <p:txBody>
          <a:bodyPr wrap="none" lIns="0" tIns="0" rIns="0" bIns="0" rtlCol="0" anchor="t"/>
          <a:lstStyle/>
          <a:p>
            <a:pPr algn="l" indent="0" marL="0">
              <a:lnSpc>
                <a:spcPts val="255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Description</a:t>
            </a:r>
            <a:endParaRPr lang="en-US" sz="1550" dirty="0"/>
          </a:p>
        </p:txBody>
      </p:sp>
      <p:sp>
        <p:nvSpPr>
          <p:cNvPr id="15" name="Text 13"/>
          <p:cNvSpPr/>
          <p:nvPr/>
        </p:nvSpPr>
        <p:spPr>
          <a:xfrm>
            <a:off x="12097702" y="2604730"/>
            <a:ext cx="1438156" cy="324922"/>
          </a:xfrm>
          <a:prstGeom prst="rect">
            <a:avLst/>
          </a:prstGeom>
          <a:noFill/>
          <a:ln/>
        </p:spPr>
        <p:txBody>
          <a:bodyPr wrap="none" lIns="0" tIns="0" rIns="0" bIns="0" rtlCol="0" anchor="t"/>
          <a:lstStyle/>
          <a:p>
            <a:pPr algn="l" indent="0" marL="0">
              <a:lnSpc>
                <a:spcPts val="255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Fréquence</a:t>
            </a:r>
            <a:endParaRPr lang="en-US" sz="1550" dirty="0"/>
          </a:p>
        </p:txBody>
      </p:sp>
      <p:sp>
        <p:nvSpPr>
          <p:cNvPr id="16" name="Shape 14"/>
          <p:cNvSpPr/>
          <p:nvPr/>
        </p:nvSpPr>
        <p:spPr>
          <a:xfrm>
            <a:off x="7578090" y="3059073"/>
            <a:ext cx="6160889" cy="908685"/>
          </a:xfrm>
          <a:prstGeom prst="rect">
            <a:avLst/>
          </a:prstGeom>
          <a:solidFill>
            <a:srgbClr val="000000">
              <a:alpha val="4000"/>
            </a:srgbClr>
          </a:solidFill>
          <a:ln/>
        </p:spPr>
      </p:sp>
      <p:sp>
        <p:nvSpPr>
          <p:cNvPr id="17" name="Text 15"/>
          <p:cNvSpPr/>
          <p:nvPr/>
        </p:nvSpPr>
        <p:spPr>
          <a:xfrm>
            <a:off x="7781330" y="3188494"/>
            <a:ext cx="822127"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Collecte</a:t>
            </a:r>
            <a:endParaRPr lang="en-US" sz="1550" dirty="0"/>
          </a:p>
        </p:txBody>
      </p:sp>
      <p:sp>
        <p:nvSpPr>
          <p:cNvPr id="18" name="Text 16"/>
          <p:cNvSpPr/>
          <p:nvPr/>
        </p:nvSpPr>
        <p:spPr>
          <a:xfrm>
            <a:off x="9017318" y="3188494"/>
            <a:ext cx="2666524"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Alertes Google, sites officiels</a:t>
            </a:r>
            <a:endParaRPr lang="en-US" sz="1550" dirty="0"/>
          </a:p>
        </p:txBody>
      </p:sp>
      <p:sp>
        <p:nvSpPr>
          <p:cNvPr id="19" name="Text 17"/>
          <p:cNvSpPr/>
          <p:nvPr/>
        </p:nvSpPr>
        <p:spPr>
          <a:xfrm>
            <a:off x="12097702" y="3188494"/>
            <a:ext cx="1438156"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Quotidienne</a:t>
            </a:r>
            <a:endParaRPr lang="en-US" sz="1550" dirty="0"/>
          </a:p>
        </p:txBody>
      </p:sp>
      <p:sp>
        <p:nvSpPr>
          <p:cNvPr id="20" name="Shape 18"/>
          <p:cNvSpPr/>
          <p:nvPr/>
        </p:nvSpPr>
        <p:spPr>
          <a:xfrm>
            <a:off x="7578090" y="3967758"/>
            <a:ext cx="6160889" cy="908685"/>
          </a:xfrm>
          <a:prstGeom prst="rect">
            <a:avLst/>
          </a:prstGeom>
          <a:solidFill>
            <a:srgbClr val="FFFFFF">
              <a:alpha val="4000"/>
            </a:srgbClr>
          </a:solidFill>
          <a:ln/>
        </p:spPr>
      </p:sp>
      <p:sp>
        <p:nvSpPr>
          <p:cNvPr id="21" name="Text 19"/>
          <p:cNvSpPr/>
          <p:nvPr/>
        </p:nvSpPr>
        <p:spPr>
          <a:xfrm>
            <a:off x="7781330" y="4097179"/>
            <a:ext cx="822127"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Tri</a:t>
            </a:r>
            <a:endParaRPr lang="en-US" sz="1550" dirty="0"/>
          </a:p>
        </p:txBody>
      </p:sp>
      <p:sp>
        <p:nvSpPr>
          <p:cNvPr id="22" name="Text 20"/>
          <p:cNvSpPr/>
          <p:nvPr/>
        </p:nvSpPr>
        <p:spPr>
          <a:xfrm>
            <a:off x="9017318" y="4097179"/>
            <a:ext cx="2666524"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Sélection des infos pertinentes</a:t>
            </a:r>
            <a:endParaRPr lang="en-US" sz="1550" dirty="0"/>
          </a:p>
        </p:txBody>
      </p:sp>
      <p:sp>
        <p:nvSpPr>
          <p:cNvPr id="23" name="Text 21"/>
          <p:cNvSpPr/>
          <p:nvPr/>
        </p:nvSpPr>
        <p:spPr>
          <a:xfrm>
            <a:off x="12097702" y="4097179"/>
            <a:ext cx="1438156"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Hebdomadaire</a:t>
            </a:r>
            <a:endParaRPr lang="en-US" sz="1550" dirty="0"/>
          </a:p>
        </p:txBody>
      </p:sp>
      <p:sp>
        <p:nvSpPr>
          <p:cNvPr id="24" name="Shape 22"/>
          <p:cNvSpPr/>
          <p:nvPr/>
        </p:nvSpPr>
        <p:spPr>
          <a:xfrm>
            <a:off x="7578090" y="4876443"/>
            <a:ext cx="6160889" cy="583763"/>
          </a:xfrm>
          <a:prstGeom prst="rect">
            <a:avLst/>
          </a:prstGeom>
          <a:solidFill>
            <a:srgbClr val="000000">
              <a:alpha val="4000"/>
            </a:srgbClr>
          </a:solidFill>
          <a:ln/>
        </p:spPr>
      </p:sp>
      <p:sp>
        <p:nvSpPr>
          <p:cNvPr id="25" name="Text 23"/>
          <p:cNvSpPr/>
          <p:nvPr/>
        </p:nvSpPr>
        <p:spPr>
          <a:xfrm>
            <a:off x="7781330" y="5005864"/>
            <a:ext cx="822127"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Analyse</a:t>
            </a:r>
            <a:endParaRPr lang="en-US" sz="1550" dirty="0"/>
          </a:p>
        </p:txBody>
      </p:sp>
      <p:sp>
        <p:nvSpPr>
          <p:cNvPr id="26" name="Text 24"/>
          <p:cNvSpPr/>
          <p:nvPr/>
        </p:nvSpPr>
        <p:spPr>
          <a:xfrm>
            <a:off x="9017318" y="5005864"/>
            <a:ext cx="2666524"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Évaluation de l'impact</a:t>
            </a:r>
            <a:endParaRPr lang="en-US" sz="1550" dirty="0"/>
          </a:p>
        </p:txBody>
      </p:sp>
      <p:sp>
        <p:nvSpPr>
          <p:cNvPr id="27" name="Text 25"/>
          <p:cNvSpPr/>
          <p:nvPr/>
        </p:nvSpPr>
        <p:spPr>
          <a:xfrm>
            <a:off x="12097702" y="5005864"/>
            <a:ext cx="1438156"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Mensuelle</a:t>
            </a:r>
            <a:endParaRPr lang="en-US" sz="1550" dirty="0"/>
          </a:p>
        </p:txBody>
      </p:sp>
      <p:sp>
        <p:nvSpPr>
          <p:cNvPr id="28" name="Shape 26"/>
          <p:cNvSpPr/>
          <p:nvPr/>
        </p:nvSpPr>
        <p:spPr>
          <a:xfrm>
            <a:off x="7578090" y="5460206"/>
            <a:ext cx="6160889" cy="908685"/>
          </a:xfrm>
          <a:prstGeom prst="rect">
            <a:avLst/>
          </a:prstGeom>
          <a:solidFill>
            <a:srgbClr val="FFFFFF">
              <a:alpha val="4000"/>
            </a:srgbClr>
          </a:solidFill>
          <a:ln/>
        </p:spPr>
      </p:sp>
      <p:sp>
        <p:nvSpPr>
          <p:cNvPr id="29" name="Text 27"/>
          <p:cNvSpPr/>
          <p:nvPr/>
        </p:nvSpPr>
        <p:spPr>
          <a:xfrm>
            <a:off x="7781330" y="5589627"/>
            <a:ext cx="822127"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Historisation</a:t>
            </a:r>
            <a:endParaRPr lang="en-US" sz="1550" dirty="0"/>
          </a:p>
        </p:txBody>
      </p:sp>
      <p:sp>
        <p:nvSpPr>
          <p:cNvPr id="30" name="Text 28"/>
          <p:cNvSpPr/>
          <p:nvPr/>
        </p:nvSpPr>
        <p:spPr>
          <a:xfrm>
            <a:off x="9017318" y="5589627"/>
            <a:ext cx="2666524"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Ajout dans le tableau de veille</a:t>
            </a:r>
            <a:endParaRPr lang="en-US" sz="1550" dirty="0"/>
          </a:p>
        </p:txBody>
      </p:sp>
      <p:sp>
        <p:nvSpPr>
          <p:cNvPr id="31" name="Text 29"/>
          <p:cNvSpPr/>
          <p:nvPr/>
        </p:nvSpPr>
        <p:spPr>
          <a:xfrm>
            <a:off x="12097702" y="5589627"/>
            <a:ext cx="1438156"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À chaque actualité</a:t>
            </a:r>
            <a:endParaRPr lang="en-US" sz="1550" dirty="0"/>
          </a:p>
        </p:txBody>
      </p:sp>
      <p:sp>
        <p:nvSpPr>
          <p:cNvPr id="32" name="Shape 30"/>
          <p:cNvSpPr/>
          <p:nvPr/>
        </p:nvSpPr>
        <p:spPr>
          <a:xfrm>
            <a:off x="7578090" y="6368891"/>
            <a:ext cx="6160889" cy="908685"/>
          </a:xfrm>
          <a:prstGeom prst="rect">
            <a:avLst/>
          </a:prstGeom>
          <a:solidFill>
            <a:srgbClr val="000000">
              <a:alpha val="4000"/>
            </a:srgbClr>
          </a:solidFill>
          <a:ln/>
        </p:spPr>
      </p:sp>
      <p:sp>
        <p:nvSpPr>
          <p:cNvPr id="33" name="Text 31"/>
          <p:cNvSpPr/>
          <p:nvPr/>
        </p:nvSpPr>
        <p:spPr>
          <a:xfrm>
            <a:off x="7781330" y="6498312"/>
            <a:ext cx="822127" cy="649843"/>
          </a:xfrm>
          <a:prstGeom prst="rect">
            <a:avLst/>
          </a:prstGeom>
          <a:noFill/>
          <a:ln/>
        </p:spPr>
        <p:txBody>
          <a:bodyPr wrap="squar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Synthèse</a:t>
            </a:r>
            <a:endParaRPr lang="en-US" sz="1550" dirty="0"/>
          </a:p>
        </p:txBody>
      </p:sp>
      <p:sp>
        <p:nvSpPr>
          <p:cNvPr id="34" name="Text 32"/>
          <p:cNvSpPr/>
          <p:nvPr/>
        </p:nvSpPr>
        <p:spPr>
          <a:xfrm>
            <a:off x="9017318" y="6498312"/>
            <a:ext cx="2666524"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Mise à jour du dossier</a:t>
            </a:r>
            <a:endParaRPr lang="en-US" sz="1550" dirty="0"/>
          </a:p>
        </p:txBody>
      </p:sp>
      <p:sp>
        <p:nvSpPr>
          <p:cNvPr id="35" name="Text 33"/>
          <p:cNvSpPr/>
          <p:nvPr/>
        </p:nvSpPr>
        <p:spPr>
          <a:xfrm>
            <a:off x="12097702" y="6498312"/>
            <a:ext cx="1438156" cy="324922"/>
          </a:xfrm>
          <a:prstGeom prst="rect">
            <a:avLst/>
          </a:prstGeom>
          <a:noFill/>
          <a:ln/>
        </p:spPr>
        <p:txBody>
          <a:bodyPr wrap="none" lIns="0" tIns="0" rIns="0" bIns="0" rtlCol="0" anchor="t"/>
          <a:lstStyle/>
          <a:p>
            <a:pPr algn="l" indent="0" marL="0">
              <a:lnSpc>
                <a:spcPts val="25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Mensuelle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4023" y="760452"/>
            <a:ext cx="13122354" cy="1346597"/>
          </a:xfrm>
          <a:prstGeom prst="rect">
            <a:avLst/>
          </a:prstGeom>
          <a:noFill/>
          <a:ln/>
        </p:spPr>
        <p:txBody>
          <a:bodyPr wrap="square" lIns="0" tIns="0" rIns="0" bIns="0" rtlCol="0" anchor="t"/>
          <a:lstStyle/>
          <a:p>
            <a:pPr algn="l" indent="0" marL="0">
              <a:lnSpc>
                <a:spcPts val="5300"/>
              </a:lnSpc>
              <a:buNone/>
            </a:pPr>
            <a:r>
              <a:rPr lang="en-US" sz="4200" dirty="0">
                <a:solidFill>
                  <a:srgbClr val="091C53"/>
                </a:solidFill>
                <a:latin typeface="Instrument Sans Semi Bold" pitchFamily="34" charset="0"/>
                <a:ea typeface="Instrument Sans Semi Bold" pitchFamily="34" charset="-122"/>
                <a:cs typeface="Instrument Sans Semi Bold" pitchFamily="34" charset="-120"/>
              </a:rPr>
              <a:t>Tableau d'Historisation : Exemples d'Actualités (SYFT)</a:t>
            </a:r>
            <a:endParaRPr lang="en-US" sz="4200" dirty="0"/>
          </a:p>
        </p:txBody>
      </p:sp>
      <p:sp>
        <p:nvSpPr>
          <p:cNvPr id="3" name="Text 1"/>
          <p:cNvSpPr/>
          <p:nvPr/>
        </p:nvSpPr>
        <p:spPr>
          <a:xfrm>
            <a:off x="754023" y="2537936"/>
            <a:ext cx="13122354"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Suivi des événements majeurs de cybersécurité pour une meilleure anticipation.</a:t>
            </a:r>
            <a:endParaRPr lang="en-US" sz="1650" dirty="0"/>
          </a:p>
        </p:txBody>
      </p:sp>
      <p:sp>
        <p:nvSpPr>
          <p:cNvPr id="4" name="Shape 2"/>
          <p:cNvSpPr/>
          <p:nvPr/>
        </p:nvSpPr>
        <p:spPr>
          <a:xfrm>
            <a:off x="754023" y="3125033"/>
            <a:ext cx="13122354" cy="4344114"/>
          </a:xfrm>
          <a:prstGeom prst="roundRect">
            <a:avLst>
              <a:gd name="adj" fmla="val 4464"/>
            </a:avLst>
          </a:prstGeom>
          <a:noFill/>
          <a:ln w="7620">
            <a:solidFill>
              <a:srgbClr val="000000">
                <a:alpha val="8000"/>
              </a:srgbClr>
            </a:solidFill>
            <a:prstDash val="solid"/>
          </a:ln>
        </p:spPr>
      </p:sp>
      <p:sp>
        <p:nvSpPr>
          <p:cNvPr id="5" name="Shape 3"/>
          <p:cNvSpPr/>
          <p:nvPr/>
        </p:nvSpPr>
        <p:spPr>
          <a:xfrm>
            <a:off x="761643" y="3132653"/>
            <a:ext cx="13107114" cy="618411"/>
          </a:xfrm>
          <a:prstGeom prst="rect">
            <a:avLst/>
          </a:prstGeom>
          <a:solidFill>
            <a:srgbClr val="FFFFFF">
              <a:alpha val="4000"/>
            </a:srgbClr>
          </a:solidFill>
          <a:ln/>
        </p:spPr>
      </p:sp>
      <p:sp>
        <p:nvSpPr>
          <p:cNvPr id="6" name="Text 4"/>
          <p:cNvSpPr/>
          <p:nvPr/>
        </p:nvSpPr>
        <p:spPr>
          <a:xfrm>
            <a:off x="977146" y="3269456"/>
            <a:ext cx="1531382" cy="344805"/>
          </a:xfrm>
          <a:prstGeom prst="rect">
            <a:avLst/>
          </a:prstGeom>
          <a:noFill/>
          <a:ln/>
        </p:spPr>
        <p:txBody>
          <a:bodyPr wrap="none" lIns="0" tIns="0" rIns="0" bIns="0" rtlCol="0" anchor="t"/>
          <a:lstStyle/>
          <a:p>
            <a:pPr algn="l" indent="0" marL="0">
              <a:lnSpc>
                <a:spcPts val="2700"/>
              </a:lnSpc>
              <a:buNone/>
            </a:pPr>
            <a:r>
              <a:rPr lang="en-US" sz="1650" b="1" dirty="0">
                <a:solidFill>
                  <a:srgbClr val="1E3063"/>
                </a:solidFill>
                <a:latin typeface="Instrument Sans Medium" pitchFamily="34" charset="0"/>
                <a:ea typeface="Instrument Sans Medium" pitchFamily="34" charset="-122"/>
                <a:cs typeface="Instrument Sans Medium" pitchFamily="34" charset="-120"/>
              </a:rPr>
              <a:t>Date</a:t>
            </a:r>
            <a:endParaRPr lang="en-US" sz="1650" dirty="0"/>
          </a:p>
        </p:txBody>
      </p:sp>
      <p:sp>
        <p:nvSpPr>
          <p:cNvPr id="7" name="Text 5"/>
          <p:cNvSpPr/>
          <p:nvPr/>
        </p:nvSpPr>
        <p:spPr>
          <a:xfrm>
            <a:off x="2946916" y="3269456"/>
            <a:ext cx="10706457" cy="344805"/>
          </a:xfrm>
          <a:prstGeom prst="rect">
            <a:avLst/>
          </a:prstGeom>
          <a:noFill/>
          <a:ln/>
        </p:spPr>
        <p:txBody>
          <a:bodyPr wrap="none" lIns="0" tIns="0" rIns="0" bIns="0" rtlCol="0" anchor="t"/>
          <a:lstStyle/>
          <a:p>
            <a:pPr algn="l" indent="0" marL="0">
              <a:lnSpc>
                <a:spcPts val="2700"/>
              </a:lnSpc>
              <a:buNone/>
            </a:pPr>
            <a:r>
              <a:rPr lang="en-US" sz="1650" b="1" dirty="0">
                <a:solidFill>
                  <a:srgbClr val="1E3063"/>
                </a:solidFill>
                <a:latin typeface="Instrument Sans Medium" pitchFamily="34" charset="0"/>
                <a:ea typeface="Instrument Sans Medium" pitchFamily="34" charset="-122"/>
                <a:cs typeface="Instrument Sans Medium" pitchFamily="34" charset="-120"/>
              </a:rPr>
              <a:t>Informations Clés</a:t>
            </a:r>
            <a:endParaRPr lang="en-US" sz="1650" dirty="0"/>
          </a:p>
        </p:txBody>
      </p:sp>
      <p:sp>
        <p:nvSpPr>
          <p:cNvPr id="8" name="Shape 6"/>
          <p:cNvSpPr/>
          <p:nvPr/>
        </p:nvSpPr>
        <p:spPr>
          <a:xfrm>
            <a:off x="761643" y="3751064"/>
            <a:ext cx="13107114" cy="618411"/>
          </a:xfrm>
          <a:prstGeom prst="rect">
            <a:avLst/>
          </a:prstGeom>
          <a:solidFill>
            <a:srgbClr val="000000">
              <a:alpha val="4000"/>
            </a:srgbClr>
          </a:solidFill>
          <a:ln/>
        </p:spPr>
      </p:sp>
      <p:sp>
        <p:nvSpPr>
          <p:cNvPr id="9" name="Text 7"/>
          <p:cNvSpPr/>
          <p:nvPr/>
        </p:nvSpPr>
        <p:spPr>
          <a:xfrm>
            <a:off x="977146" y="3887867"/>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03/12/25</a:t>
            </a:r>
            <a:endParaRPr lang="en-US" sz="1650" dirty="0"/>
          </a:p>
        </p:txBody>
      </p:sp>
      <p:sp>
        <p:nvSpPr>
          <p:cNvPr id="10" name="Text 8"/>
          <p:cNvSpPr/>
          <p:nvPr/>
        </p:nvSpPr>
        <p:spPr>
          <a:xfrm>
            <a:off x="2946916" y="3887867"/>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Stratégies cybersécurité pour institutions à ressources limitées (RSSI RTI).</a:t>
            </a:r>
            <a:endParaRPr lang="en-US" sz="1650" dirty="0"/>
          </a:p>
        </p:txBody>
      </p:sp>
      <p:sp>
        <p:nvSpPr>
          <p:cNvPr id="11" name="Shape 9"/>
          <p:cNvSpPr/>
          <p:nvPr/>
        </p:nvSpPr>
        <p:spPr>
          <a:xfrm>
            <a:off x="761643" y="4369475"/>
            <a:ext cx="13107114" cy="618411"/>
          </a:xfrm>
          <a:prstGeom prst="rect">
            <a:avLst/>
          </a:prstGeom>
          <a:solidFill>
            <a:srgbClr val="FFFFFF">
              <a:alpha val="4000"/>
            </a:srgbClr>
          </a:solidFill>
          <a:ln/>
        </p:spPr>
      </p:sp>
      <p:sp>
        <p:nvSpPr>
          <p:cNvPr id="12" name="Text 10"/>
          <p:cNvSpPr/>
          <p:nvPr/>
        </p:nvSpPr>
        <p:spPr>
          <a:xfrm>
            <a:off x="977146" y="4506278"/>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04/12/25</a:t>
            </a:r>
            <a:endParaRPr lang="en-US" sz="1650" dirty="0"/>
          </a:p>
        </p:txBody>
      </p:sp>
      <p:sp>
        <p:nvSpPr>
          <p:cNvPr id="13" name="Text 11"/>
          <p:cNvSpPr/>
          <p:nvPr/>
        </p:nvSpPr>
        <p:spPr>
          <a:xfrm>
            <a:off x="2946916" y="4506278"/>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Interruption Microsoft Defender due à un pic de trafic.</a:t>
            </a:r>
            <a:endParaRPr lang="en-US" sz="1650" dirty="0"/>
          </a:p>
        </p:txBody>
      </p:sp>
      <p:sp>
        <p:nvSpPr>
          <p:cNvPr id="14" name="Shape 12"/>
          <p:cNvSpPr/>
          <p:nvPr/>
        </p:nvSpPr>
        <p:spPr>
          <a:xfrm>
            <a:off x="761643" y="4987885"/>
            <a:ext cx="13107114" cy="618411"/>
          </a:xfrm>
          <a:prstGeom prst="rect">
            <a:avLst/>
          </a:prstGeom>
          <a:solidFill>
            <a:srgbClr val="000000">
              <a:alpha val="4000"/>
            </a:srgbClr>
          </a:solidFill>
          <a:ln/>
        </p:spPr>
      </p:sp>
      <p:sp>
        <p:nvSpPr>
          <p:cNvPr id="15" name="Text 13"/>
          <p:cNvSpPr/>
          <p:nvPr/>
        </p:nvSpPr>
        <p:spPr>
          <a:xfrm>
            <a:off x="977146" y="5124688"/>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05/12/25</a:t>
            </a:r>
            <a:endParaRPr lang="en-US" sz="1650" dirty="0"/>
          </a:p>
        </p:txBody>
      </p:sp>
      <p:sp>
        <p:nvSpPr>
          <p:cNvPr id="16" name="Text 14"/>
          <p:cNvSpPr/>
          <p:nvPr/>
        </p:nvSpPr>
        <p:spPr>
          <a:xfrm>
            <a:off x="2946916" y="5124688"/>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Campagne de phishing : usurpation d'identité pour voler des identifiants Google/Facebook.</a:t>
            </a:r>
            <a:endParaRPr lang="en-US" sz="1650" dirty="0"/>
          </a:p>
        </p:txBody>
      </p:sp>
      <p:sp>
        <p:nvSpPr>
          <p:cNvPr id="17" name="Shape 15"/>
          <p:cNvSpPr/>
          <p:nvPr/>
        </p:nvSpPr>
        <p:spPr>
          <a:xfrm>
            <a:off x="761643" y="5606296"/>
            <a:ext cx="13107114" cy="618411"/>
          </a:xfrm>
          <a:prstGeom prst="rect">
            <a:avLst/>
          </a:prstGeom>
          <a:solidFill>
            <a:srgbClr val="FFFFFF">
              <a:alpha val="4000"/>
            </a:srgbClr>
          </a:solidFill>
          <a:ln/>
        </p:spPr>
      </p:sp>
      <p:sp>
        <p:nvSpPr>
          <p:cNvPr id="18" name="Text 16"/>
          <p:cNvSpPr/>
          <p:nvPr/>
        </p:nvSpPr>
        <p:spPr>
          <a:xfrm>
            <a:off x="977146" y="5743099"/>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09/12/25</a:t>
            </a:r>
            <a:endParaRPr lang="en-US" sz="1650" dirty="0"/>
          </a:p>
        </p:txBody>
      </p:sp>
      <p:sp>
        <p:nvSpPr>
          <p:cNvPr id="19" name="Text 17"/>
          <p:cNvSpPr/>
          <p:nvPr/>
        </p:nvSpPr>
        <p:spPr>
          <a:xfrm>
            <a:off x="2946916" y="5743099"/>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Extensions VSCode malveillantes infectent des machines.</a:t>
            </a:r>
            <a:endParaRPr lang="en-US" sz="1650" dirty="0"/>
          </a:p>
        </p:txBody>
      </p:sp>
      <p:sp>
        <p:nvSpPr>
          <p:cNvPr id="20" name="Shape 18"/>
          <p:cNvSpPr/>
          <p:nvPr/>
        </p:nvSpPr>
        <p:spPr>
          <a:xfrm>
            <a:off x="761643" y="6224707"/>
            <a:ext cx="13107114" cy="618411"/>
          </a:xfrm>
          <a:prstGeom prst="rect">
            <a:avLst/>
          </a:prstGeom>
          <a:solidFill>
            <a:srgbClr val="000000">
              <a:alpha val="4000"/>
            </a:srgbClr>
          </a:solidFill>
          <a:ln/>
        </p:spPr>
      </p:sp>
      <p:sp>
        <p:nvSpPr>
          <p:cNvPr id="21" name="Text 19"/>
          <p:cNvSpPr/>
          <p:nvPr/>
        </p:nvSpPr>
        <p:spPr>
          <a:xfrm>
            <a:off x="977146" y="6361509"/>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10/12/25</a:t>
            </a:r>
            <a:endParaRPr lang="en-US" sz="1650" dirty="0"/>
          </a:p>
        </p:txBody>
      </p:sp>
      <p:sp>
        <p:nvSpPr>
          <p:cNvPr id="22" name="Text 20"/>
          <p:cNvSpPr/>
          <p:nvPr/>
        </p:nvSpPr>
        <p:spPr>
          <a:xfrm>
            <a:off x="2946916" y="6361509"/>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L'IA de Picus Security transforme les actualités menaces en défenses validées.</a:t>
            </a:r>
            <a:endParaRPr lang="en-US" sz="1650" dirty="0"/>
          </a:p>
        </p:txBody>
      </p:sp>
      <p:sp>
        <p:nvSpPr>
          <p:cNvPr id="23" name="Shape 21"/>
          <p:cNvSpPr/>
          <p:nvPr/>
        </p:nvSpPr>
        <p:spPr>
          <a:xfrm>
            <a:off x="761643" y="6843117"/>
            <a:ext cx="13107114" cy="618411"/>
          </a:xfrm>
          <a:prstGeom prst="rect">
            <a:avLst/>
          </a:prstGeom>
          <a:solidFill>
            <a:srgbClr val="FFFFFF">
              <a:alpha val="4000"/>
            </a:srgbClr>
          </a:solidFill>
          <a:ln/>
        </p:spPr>
      </p:sp>
      <p:sp>
        <p:nvSpPr>
          <p:cNvPr id="24" name="Text 22"/>
          <p:cNvSpPr/>
          <p:nvPr/>
        </p:nvSpPr>
        <p:spPr>
          <a:xfrm>
            <a:off x="977146" y="6979920"/>
            <a:ext cx="1531382"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06/01/26</a:t>
            </a:r>
            <a:endParaRPr lang="en-US" sz="1650" dirty="0"/>
          </a:p>
        </p:txBody>
      </p:sp>
      <p:sp>
        <p:nvSpPr>
          <p:cNvPr id="25" name="Text 23"/>
          <p:cNvSpPr/>
          <p:nvPr/>
        </p:nvSpPr>
        <p:spPr>
          <a:xfrm>
            <a:off x="2946916" y="6979920"/>
            <a:ext cx="10706457" cy="344805"/>
          </a:xfrm>
          <a:prstGeom prst="rect">
            <a:avLst/>
          </a:prstGeom>
          <a:noFill/>
          <a:ln/>
        </p:spPr>
        <p:txBody>
          <a:bodyPr wrap="none" lIns="0" tIns="0" rIns="0" bIns="0" rtlCol="0" anchor="t"/>
          <a:lstStyle/>
          <a:p>
            <a:pPr algn="l" indent="0" marL="0">
              <a:lnSpc>
                <a:spcPts val="2700"/>
              </a:lnSpc>
              <a:buNone/>
            </a:pPr>
            <a:r>
              <a:rPr lang="en-US" sz="1650" dirty="0">
                <a:solidFill>
                  <a:srgbClr val="1E3063"/>
                </a:solidFill>
                <a:latin typeface="Instrument Sans Medium" pitchFamily="34" charset="0"/>
                <a:ea typeface="Instrument Sans Medium" pitchFamily="34" charset="-122"/>
                <a:cs typeface="Instrument Sans Medium" pitchFamily="34" charset="-120"/>
              </a:rPr>
              <a:t>Acteur de menace 1011 revendique une fuite de données sensibles de NordVPN (serveur mal configuré).</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24150" y="399217"/>
            <a:ext cx="6140172" cy="453628"/>
          </a:xfrm>
          <a:prstGeom prst="rect">
            <a:avLst/>
          </a:prstGeom>
          <a:noFill/>
          <a:ln/>
        </p:spPr>
        <p:txBody>
          <a:bodyPr wrap="none" lIns="0" tIns="0" rIns="0" bIns="0" rtlCol="0" anchor="t"/>
          <a:lstStyle/>
          <a:p>
            <a:pPr algn="l" indent="0" marL="0">
              <a:lnSpc>
                <a:spcPts val="3550"/>
              </a:lnSpc>
              <a:buNone/>
            </a:pPr>
            <a:r>
              <a:rPr lang="en-US" sz="2850" dirty="0">
                <a:solidFill>
                  <a:srgbClr val="091C53"/>
                </a:solidFill>
                <a:latin typeface="Instrument Sans Semi Bold" pitchFamily="34" charset="0"/>
                <a:ea typeface="Instrument Sans Semi Bold" pitchFamily="34" charset="-122"/>
                <a:cs typeface="Instrument Sans Semi Bold" pitchFamily="34" charset="-120"/>
              </a:rPr>
              <a:t>Menaces Émergentes en 2025-2026</a:t>
            </a:r>
            <a:endParaRPr lang="en-US" sz="2850" dirty="0"/>
          </a:p>
        </p:txBody>
      </p:sp>
      <p:sp>
        <p:nvSpPr>
          <p:cNvPr id="3" name="Shape 1"/>
          <p:cNvSpPr/>
          <p:nvPr/>
        </p:nvSpPr>
        <p:spPr>
          <a:xfrm>
            <a:off x="2724150" y="1143119"/>
            <a:ext cx="2963823" cy="3271480"/>
          </a:xfrm>
          <a:prstGeom prst="roundRect">
            <a:avLst>
              <a:gd name="adj" fmla="val 2468"/>
            </a:avLst>
          </a:prstGeom>
          <a:solidFill>
            <a:srgbClr val="FFFFFF"/>
          </a:solidFill>
          <a:ln w="15240">
            <a:solidFill>
              <a:srgbClr val="B4CCE3"/>
            </a:solidFill>
            <a:prstDash val="solid"/>
          </a:ln>
        </p:spPr>
      </p:sp>
      <p:sp>
        <p:nvSpPr>
          <p:cNvPr id="4" name="Shape 2"/>
          <p:cNvSpPr/>
          <p:nvPr/>
        </p:nvSpPr>
        <p:spPr>
          <a:xfrm>
            <a:off x="2708910" y="1143119"/>
            <a:ext cx="60960" cy="3271480"/>
          </a:xfrm>
          <a:prstGeom prst="roundRect">
            <a:avLst>
              <a:gd name="adj" fmla="val 214326"/>
            </a:avLst>
          </a:prstGeom>
          <a:solidFill>
            <a:srgbClr val="84C1FA"/>
          </a:solidFill>
          <a:ln/>
        </p:spPr>
      </p:sp>
      <p:sp>
        <p:nvSpPr>
          <p:cNvPr id="5" name="Text 3"/>
          <p:cNvSpPr/>
          <p:nvPr/>
        </p:nvSpPr>
        <p:spPr>
          <a:xfrm>
            <a:off x="2930247" y="1303496"/>
            <a:ext cx="2262902" cy="226814"/>
          </a:xfrm>
          <a:prstGeom prst="rect">
            <a:avLst/>
          </a:prstGeom>
          <a:noFill/>
          <a:ln/>
        </p:spPr>
        <p:txBody>
          <a:bodyPr wrap="none" lIns="0" tIns="0" rIns="0" bIns="0" rtlCol="0" anchor="t"/>
          <a:lstStyle/>
          <a:p>
            <a:pPr algn="l" indent="0" marL="0">
              <a:lnSpc>
                <a:spcPts val="1750"/>
              </a:lnSpc>
              <a:buNone/>
            </a:pPr>
            <a:r>
              <a:rPr lang="en-US" sz="1400" dirty="0">
                <a:solidFill>
                  <a:srgbClr val="1E3063"/>
                </a:solidFill>
                <a:latin typeface="Instrument Sans Semi Bold" pitchFamily="34" charset="0"/>
                <a:ea typeface="Instrument Sans Semi Bold" pitchFamily="34" charset="-122"/>
                <a:cs typeface="Instrument Sans Semi Bold" pitchFamily="34" charset="-120"/>
              </a:rPr>
              <a:t>Ransomwares Ultra-Ciblés</a:t>
            </a:r>
            <a:endParaRPr lang="en-US" sz="1400" dirty="0"/>
          </a:p>
        </p:txBody>
      </p:sp>
      <p:sp>
        <p:nvSpPr>
          <p:cNvPr id="6" name="Text 4"/>
          <p:cNvSpPr/>
          <p:nvPr/>
        </p:nvSpPr>
        <p:spPr>
          <a:xfrm>
            <a:off x="2930247" y="1617345"/>
            <a:ext cx="2597348" cy="464344"/>
          </a:xfrm>
          <a:prstGeom prst="rect">
            <a:avLst/>
          </a:prstGeom>
          <a:noFill/>
          <a:ln/>
        </p:spPr>
        <p:txBody>
          <a:bodyPr wrap="square" lIns="0" tIns="0" rIns="0" bIns="0" rtlCol="0" anchor="t"/>
          <a:lstStyle/>
          <a:p>
            <a:pPr algn="l" indent="0" marL="0">
              <a:lnSpc>
                <a:spcPts val="18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Attaques discrètes et rapides par IA, ciblant PME/ETI, double extorsion.</a:t>
            </a:r>
            <a:endParaRPr lang="en-US" sz="1100" dirty="0"/>
          </a:p>
        </p:txBody>
      </p:sp>
      <p:pic>
        <p:nvPicPr>
          <p:cNvPr id="7" name="Image 0" descr="preencoded.png">    </p:cNvPr>
          <p:cNvPicPr>
            <a:picLocks noChangeAspect="1"/>
          </p:cNvPicPr>
          <p:nvPr/>
        </p:nvPicPr>
        <p:blipFill>
          <a:blip r:embed="rId1"/>
          <a:stretch>
            <a:fillRect/>
          </a:stretch>
        </p:blipFill>
        <p:spPr>
          <a:xfrm>
            <a:off x="2930247" y="2244923"/>
            <a:ext cx="2597348" cy="1777127"/>
          </a:xfrm>
          <a:prstGeom prst="rect">
            <a:avLst/>
          </a:prstGeom>
        </p:spPr>
      </p:pic>
      <p:sp>
        <p:nvSpPr>
          <p:cNvPr id="8" name="Shape 5"/>
          <p:cNvSpPr/>
          <p:nvPr/>
        </p:nvSpPr>
        <p:spPr>
          <a:xfrm>
            <a:off x="5833110" y="1143119"/>
            <a:ext cx="2963942" cy="3271480"/>
          </a:xfrm>
          <a:prstGeom prst="roundRect">
            <a:avLst>
              <a:gd name="adj" fmla="val 2468"/>
            </a:avLst>
          </a:prstGeom>
          <a:solidFill>
            <a:srgbClr val="FFFFFF"/>
          </a:solidFill>
          <a:ln w="15240">
            <a:solidFill>
              <a:srgbClr val="B4CCE3"/>
            </a:solidFill>
            <a:prstDash val="solid"/>
          </a:ln>
        </p:spPr>
      </p:sp>
      <p:sp>
        <p:nvSpPr>
          <p:cNvPr id="9" name="Shape 6"/>
          <p:cNvSpPr/>
          <p:nvPr/>
        </p:nvSpPr>
        <p:spPr>
          <a:xfrm>
            <a:off x="5817870" y="1143119"/>
            <a:ext cx="60960" cy="3271480"/>
          </a:xfrm>
          <a:prstGeom prst="roundRect">
            <a:avLst>
              <a:gd name="adj" fmla="val 214326"/>
            </a:avLst>
          </a:prstGeom>
          <a:solidFill>
            <a:srgbClr val="84C1FA"/>
          </a:solidFill>
          <a:ln/>
        </p:spPr>
      </p:sp>
      <p:sp>
        <p:nvSpPr>
          <p:cNvPr id="10" name="Text 7"/>
          <p:cNvSpPr/>
          <p:nvPr/>
        </p:nvSpPr>
        <p:spPr>
          <a:xfrm>
            <a:off x="6039207" y="1303496"/>
            <a:ext cx="1950244" cy="226814"/>
          </a:xfrm>
          <a:prstGeom prst="rect">
            <a:avLst/>
          </a:prstGeom>
          <a:noFill/>
          <a:ln/>
        </p:spPr>
        <p:txBody>
          <a:bodyPr wrap="none" lIns="0" tIns="0" rIns="0" bIns="0" rtlCol="0" anchor="t"/>
          <a:lstStyle/>
          <a:p>
            <a:pPr algn="l" indent="0" marL="0">
              <a:lnSpc>
                <a:spcPts val="1750"/>
              </a:lnSpc>
              <a:buNone/>
            </a:pPr>
            <a:r>
              <a:rPr lang="en-US" sz="1400" dirty="0">
                <a:solidFill>
                  <a:srgbClr val="1E3063"/>
                </a:solidFill>
                <a:latin typeface="Instrument Sans Semi Bold" pitchFamily="34" charset="0"/>
                <a:ea typeface="Instrument Sans Semi Bold" pitchFamily="34" charset="-122"/>
                <a:cs typeface="Instrument Sans Semi Bold" pitchFamily="34" charset="-120"/>
              </a:rPr>
              <a:t>Attaques Supply Chain</a:t>
            </a:r>
            <a:endParaRPr lang="en-US" sz="1400" dirty="0"/>
          </a:p>
        </p:txBody>
      </p:sp>
      <p:sp>
        <p:nvSpPr>
          <p:cNvPr id="11" name="Text 8"/>
          <p:cNvSpPr/>
          <p:nvPr/>
        </p:nvSpPr>
        <p:spPr>
          <a:xfrm>
            <a:off x="6039207" y="1617345"/>
            <a:ext cx="2597468" cy="696516"/>
          </a:xfrm>
          <a:prstGeom prst="rect">
            <a:avLst/>
          </a:prstGeom>
          <a:noFill/>
          <a:ln/>
        </p:spPr>
        <p:txBody>
          <a:bodyPr wrap="square" lIns="0" tIns="0" rIns="0" bIns="0" rtlCol="0" anchor="t"/>
          <a:lstStyle/>
          <a:p>
            <a:pPr algn="l" indent="0" marL="0">
              <a:lnSpc>
                <a:spcPts val="18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Exploitation des dépendances logicielles, importance du SBOM, attaques CI/CD.</a:t>
            </a:r>
            <a:endParaRPr lang="en-US" sz="1100" dirty="0"/>
          </a:p>
        </p:txBody>
      </p:sp>
      <p:pic>
        <p:nvPicPr>
          <p:cNvPr id="12" name="Image 1" descr="preencoded.png">    </p:cNvPr>
          <p:cNvPicPr>
            <a:picLocks noChangeAspect="1"/>
          </p:cNvPicPr>
          <p:nvPr/>
        </p:nvPicPr>
        <p:blipFill>
          <a:blip r:embed="rId2"/>
          <a:stretch>
            <a:fillRect/>
          </a:stretch>
        </p:blipFill>
        <p:spPr>
          <a:xfrm>
            <a:off x="6039207" y="2477095"/>
            <a:ext cx="2597468" cy="1777127"/>
          </a:xfrm>
          <a:prstGeom prst="rect">
            <a:avLst/>
          </a:prstGeom>
        </p:spPr>
      </p:pic>
      <p:sp>
        <p:nvSpPr>
          <p:cNvPr id="13" name="Shape 9"/>
          <p:cNvSpPr/>
          <p:nvPr/>
        </p:nvSpPr>
        <p:spPr>
          <a:xfrm>
            <a:off x="8942189" y="1143119"/>
            <a:ext cx="2963823" cy="3271480"/>
          </a:xfrm>
          <a:prstGeom prst="roundRect">
            <a:avLst>
              <a:gd name="adj" fmla="val 2468"/>
            </a:avLst>
          </a:prstGeom>
          <a:solidFill>
            <a:srgbClr val="FFFFFF"/>
          </a:solidFill>
          <a:ln w="15240">
            <a:solidFill>
              <a:srgbClr val="B4CCE3"/>
            </a:solidFill>
            <a:prstDash val="solid"/>
          </a:ln>
        </p:spPr>
      </p:sp>
      <p:sp>
        <p:nvSpPr>
          <p:cNvPr id="14" name="Shape 10"/>
          <p:cNvSpPr/>
          <p:nvPr/>
        </p:nvSpPr>
        <p:spPr>
          <a:xfrm>
            <a:off x="8926949" y="1143119"/>
            <a:ext cx="60960" cy="3271480"/>
          </a:xfrm>
          <a:prstGeom prst="roundRect">
            <a:avLst>
              <a:gd name="adj" fmla="val 214326"/>
            </a:avLst>
          </a:prstGeom>
          <a:solidFill>
            <a:srgbClr val="84C1FA"/>
          </a:solidFill>
          <a:ln/>
        </p:spPr>
      </p:sp>
      <p:sp>
        <p:nvSpPr>
          <p:cNvPr id="15" name="Text 11"/>
          <p:cNvSpPr/>
          <p:nvPr/>
        </p:nvSpPr>
        <p:spPr>
          <a:xfrm>
            <a:off x="9148286" y="1303496"/>
            <a:ext cx="2253972" cy="226814"/>
          </a:xfrm>
          <a:prstGeom prst="rect">
            <a:avLst/>
          </a:prstGeom>
          <a:noFill/>
          <a:ln/>
        </p:spPr>
        <p:txBody>
          <a:bodyPr wrap="none" lIns="0" tIns="0" rIns="0" bIns="0" rtlCol="0" anchor="t"/>
          <a:lstStyle/>
          <a:p>
            <a:pPr algn="l" indent="0" marL="0">
              <a:lnSpc>
                <a:spcPts val="1750"/>
              </a:lnSpc>
              <a:buNone/>
            </a:pPr>
            <a:r>
              <a:rPr lang="en-US" sz="1400" dirty="0">
                <a:solidFill>
                  <a:srgbClr val="1E3063"/>
                </a:solidFill>
                <a:latin typeface="Instrument Sans Semi Bold" pitchFamily="34" charset="0"/>
                <a:ea typeface="Instrument Sans Semi Bold" pitchFamily="34" charset="-122"/>
                <a:cs typeface="Instrument Sans Semi Bold" pitchFamily="34" charset="-120"/>
              </a:rPr>
              <a:t>Phishing par IA Générative</a:t>
            </a:r>
            <a:endParaRPr lang="en-US" sz="1400" dirty="0"/>
          </a:p>
        </p:txBody>
      </p:sp>
      <p:sp>
        <p:nvSpPr>
          <p:cNvPr id="16" name="Text 12"/>
          <p:cNvSpPr/>
          <p:nvPr/>
        </p:nvSpPr>
        <p:spPr>
          <a:xfrm>
            <a:off x="9148286" y="1617345"/>
            <a:ext cx="2597348" cy="696516"/>
          </a:xfrm>
          <a:prstGeom prst="rect">
            <a:avLst/>
          </a:prstGeom>
          <a:noFill/>
          <a:ln/>
        </p:spPr>
        <p:txBody>
          <a:bodyPr wrap="square" lIns="0" tIns="0" rIns="0" bIns="0" rtlCol="0" anchor="t"/>
          <a:lstStyle/>
          <a:p>
            <a:pPr algn="l" indent="0" marL="0">
              <a:lnSpc>
                <a:spcPts val="18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Emails indétectables, deepfakes audio/vidéo pour escroquer le personnel.</a:t>
            </a:r>
            <a:endParaRPr lang="en-US" sz="1100" dirty="0"/>
          </a:p>
        </p:txBody>
      </p:sp>
      <p:pic>
        <p:nvPicPr>
          <p:cNvPr id="17" name="Image 2" descr="preencoded.png">    </p:cNvPr>
          <p:cNvPicPr>
            <a:picLocks noChangeAspect="1"/>
          </p:cNvPicPr>
          <p:nvPr/>
        </p:nvPicPr>
        <p:blipFill>
          <a:blip r:embed="rId3"/>
          <a:stretch>
            <a:fillRect/>
          </a:stretch>
        </p:blipFill>
        <p:spPr>
          <a:xfrm>
            <a:off x="9148286" y="2477095"/>
            <a:ext cx="2597348" cy="1777127"/>
          </a:xfrm>
          <a:prstGeom prst="rect">
            <a:avLst/>
          </a:prstGeom>
        </p:spPr>
      </p:pic>
      <p:sp>
        <p:nvSpPr>
          <p:cNvPr id="18" name="Shape 13"/>
          <p:cNvSpPr/>
          <p:nvPr/>
        </p:nvSpPr>
        <p:spPr>
          <a:xfrm>
            <a:off x="2724150" y="4559737"/>
            <a:ext cx="2963823" cy="3271480"/>
          </a:xfrm>
          <a:prstGeom prst="roundRect">
            <a:avLst>
              <a:gd name="adj" fmla="val 2468"/>
            </a:avLst>
          </a:prstGeom>
          <a:solidFill>
            <a:srgbClr val="FFFFFF"/>
          </a:solidFill>
          <a:ln w="15240">
            <a:solidFill>
              <a:srgbClr val="B4CCE3"/>
            </a:solidFill>
            <a:prstDash val="solid"/>
          </a:ln>
        </p:spPr>
      </p:sp>
      <p:sp>
        <p:nvSpPr>
          <p:cNvPr id="19" name="Shape 14"/>
          <p:cNvSpPr/>
          <p:nvPr/>
        </p:nvSpPr>
        <p:spPr>
          <a:xfrm>
            <a:off x="2708910" y="4559737"/>
            <a:ext cx="60960" cy="3271480"/>
          </a:xfrm>
          <a:prstGeom prst="roundRect">
            <a:avLst>
              <a:gd name="adj" fmla="val 214326"/>
            </a:avLst>
          </a:prstGeom>
          <a:solidFill>
            <a:srgbClr val="84C1FA"/>
          </a:solidFill>
          <a:ln/>
        </p:spPr>
      </p:sp>
      <p:sp>
        <p:nvSpPr>
          <p:cNvPr id="20" name="Text 15"/>
          <p:cNvSpPr/>
          <p:nvPr/>
        </p:nvSpPr>
        <p:spPr>
          <a:xfrm>
            <a:off x="2930247" y="4720114"/>
            <a:ext cx="1977271" cy="226814"/>
          </a:xfrm>
          <a:prstGeom prst="rect">
            <a:avLst/>
          </a:prstGeom>
          <a:noFill/>
          <a:ln/>
        </p:spPr>
        <p:txBody>
          <a:bodyPr wrap="none" lIns="0" tIns="0" rIns="0" bIns="0" rtlCol="0" anchor="t"/>
          <a:lstStyle/>
          <a:p>
            <a:pPr algn="l" indent="0" marL="0">
              <a:lnSpc>
                <a:spcPts val="1750"/>
              </a:lnSpc>
              <a:buNone/>
            </a:pPr>
            <a:r>
              <a:rPr lang="en-US" sz="1400" dirty="0">
                <a:solidFill>
                  <a:srgbClr val="1E3063"/>
                </a:solidFill>
                <a:latin typeface="Instrument Sans Semi Bold" pitchFamily="34" charset="0"/>
                <a:ea typeface="Instrument Sans Semi Bold" pitchFamily="34" charset="-122"/>
                <a:cs typeface="Instrument Sans Semi Bold" pitchFamily="34" charset="-120"/>
              </a:rPr>
              <a:t>Cybercriminalité Cloud</a:t>
            </a:r>
            <a:endParaRPr lang="en-US" sz="1400" dirty="0"/>
          </a:p>
        </p:txBody>
      </p:sp>
      <p:sp>
        <p:nvSpPr>
          <p:cNvPr id="21" name="Text 16"/>
          <p:cNvSpPr/>
          <p:nvPr/>
        </p:nvSpPr>
        <p:spPr>
          <a:xfrm>
            <a:off x="2930247" y="5033963"/>
            <a:ext cx="2597348" cy="696516"/>
          </a:xfrm>
          <a:prstGeom prst="rect">
            <a:avLst/>
          </a:prstGeom>
          <a:noFill/>
          <a:ln/>
        </p:spPr>
        <p:txBody>
          <a:bodyPr wrap="square" lIns="0" tIns="0" rIns="0" bIns="0" rtlCol="0" anchor="t"/>
          <a:lstStyle/>
          <a:p>
            <a:pPr algn="l" indent="0" marL="0">
              <a:lnSpc>
                <a:spcPts val="18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Mauvaises configurations (S3), clés API compromises, accès non autorisés.</a:t>
            </a:r>
            <a:endParaRPr lang="en-US" sz="1100" dirty="0"/>
          </a:p>
        </p:txBody>
      </p:sp>
      <p:pic>
        <p:nvPicPr>
          <p:cNvPr id="22" name="Image 3" descr="preencoded.png">    </p:cNvPr>
          <p:cNvPicPr>
            <a:picLocks noChangeAspect="1"/>
          </p:cNvPicPr>
          <p:nvPr/>
        </p:nvPicPr>
        <p:blipFill>
          <a:blip r:embed="rId4"/>
          <a:stretch>
            <a:fillRect/>
          </a:stretch>
        </p:blipFill>
        <p:spPr>
          <a:xfrm>
            <a:off x="2930247" y="5893713"/>
            <a:ext cx="2597348" cy="1777127"/>
          </a:xfrm>
          <a:prstGeom prst="rect">
            <a:avLst/>
          </a:prstGeom>
        </p:spPr>
      </p:pic>
      <p:sp>
        <p:nvSpPr>
          <p:cNvPr id="23" name="Shape 17"/>
          <p:cNvSpPr/>
          <p:nvPr/>
        </p:nvSpPr>
        <p:spPr>
          <a:xfrm>
            <a:off x="5833110" y="4559737"/>
            <a:ext cx="2963942" cy="3271480"/>
          </a:xfrm>
          <a:prstGeom prst="roundRect">
            <a:avLst>
              <a:gd name="adj" fmla="val 2468"/>
            </a:avLst>
          </a:prstGeom>
          <a:solidFill>
            <a:srgbClr val="FFFFFF"/>
          </a:solidFill>
          <a:ln w="15240">
            <a:solidFill>
              <a:srgbClr val="B4CCE3"/>
            </a:solidFill>
            <a:prstDash val="solid"/>
          </a:ln>
        </p:spPr>
      </p:sp>
      <p:sp>
        <p:nvSpPr>
          <p:cNvPr id="24" name="Shape 18"/>
          <p:cNvSpPr/>
          <p:nvPr/>
        </p:nvSpPr>
        <p:spPr>
          <a:xfrm>
            <a:off x="5817870" y="4559737"/>
            <a:ext cx="60960" cy="3271480"/>
          </a:xfrm>
          <a:prstGeom prst="roundRect">
            <a:avLst>
              <a:gd name="adj" fmla="val 214326"/>
            </a:avLst>
          </a:prstGeom>
          <a:solidFill>
            <a:srgbClr val="84C1FA"/>
          </a:solidFill>
          <a:ln/>
        </p:spPr>
      </p:sp>
      <p:sp>
        <p:nvSpPr>
          <p:cNvPr id="25" name="Text 19"/>
          <p:cNvSpPr/>
          <p:nvPr/>
        </p:nvSpPr>
        <p:spPr>
          <a:xfrm>
            <a:off x="6039207" y="4720114"/>
            <a:ext cx="2234208" cy="226814"/>
          </a:xfrm>
          <a:prstGeom prst="rect">
            <a:avLst/>
          </a:prstGeom>
          <a:noFill/>
          <a:ln/>
        </p:spPr>
        <p:txBody>
          <a:bodyPr wrap="none" lIns="0" tIns="0" rIns="0" bIns="0" rtlCol="0" anchor="t"/>
          <a:lstStyle/>
          <a:p>
            <a:pPr algn="l" indent="0" marL="0">
              <a:lnSpc>
                <a:spcPts val="1750"/>
              </a:lnSpc>
              <a:buNone/>
            </a:pPr>
            <a:r>
              <a:rPr lang="en-US" sz="1400" dirty="0">
                <a:solidFill>
                  <a:srgbClr val="1E3063"/>
                </a:solidFill>
                <a:latin typeface="Instrument Sans Semi Bold" pitchFamily="34" charset="0"/>
                <a:ea typeface="Instrument Sans Semi Bold" pitchFamily="34" charset="-122"/>
                <a:cs typeface="Instrument Sans Semi Bold" pitchFamily="34" charset="-120"/>
              </a:rPr>
              <a:t>IoT &amp; Systèmes Industriels</a:t>
            </a:r>
            <a:endParaRPr lang="en-US" sz="1400" dirty="0"/>
          </a:p>
        </p:txBody>
      </p:sp>
      <p:sp>
        <p:nvSpPr>
          <p:cNvPr id="26" name="Text 20"/>
          <p:cNvSpPr/>
          <p:nvPr/>
        </p:nvSpPr>
        <p:spPr>
          <a:xfrm>
            <a:off x="6039207" y="5033963"/>
            <a:ext cx="2597468" cy="464344"/>
          </a:xfrm>
          <a:prstGeom prst="rect">
            <a:avLst/>
          </a:prstGeom>
          <a:noFill/>
          <a:ln/>
        </p:spPr>
        <p:txBody>
          <a:bodyPr wrap="square" lIns="0" tIns="0" rIns="0" bIns="0" rtlCol="0" anchor="t"/>
          <a:lstStyle/>
          <a:p>
            <a:pPr algn="l" indent="0" marL="0">
              <a:lnSpc>
                <a:spcPts val="18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Vulnérabilités dans caméras, capteurs, machines, impact sur hôpitaux/usines.</a:t>
            </a:r>
            <a:endParaRPr lang="en-US" sz="1100" dirty="0"/>
          </a:p>
        </p:txBody>
      </p:sp>
      <p:pic>
        <p:nvPicPr>
          <p:cNvPr id="27" name="Image 4" descr="preencoded.png">    </p:cNvPr>
          <p:cNvPicPr>
            <a:picLocks noChangeAspect="1"/>
          </p:cNvPicPr>
          <p:nvPr/>
        </p:nvPicPr>
        <p:blipFill>
          <a:blip r:embed="rId5"/>
          <a:stretch>
            <a:fillRect/>
          </a:stretch>
        </p:blipFill>
        <p:spPr>
          <a:xfrm>
            <a:off x="6039207" y="5661541"/>
            <a:ext cx="2597468" cy="17771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252668" y="354449"/>
            <a:ext cx="6296263" cy="401360"/>
          </a:xfrm>
          <a:prstGeom prst="rect">
            <a:avLst/>
          </a:prstGeom>
          <a:noFill/>
          <a:ln/>
        </p:spPr>
        <p:txBody>
          <a:bodyPr wrap="none" lIns="0" tIns="0" rIns="0" bIns="0" rtlCol="0" anchor="t"/>
          <a:lstStyle/>
          <a:p>
            <a:pPr algn="l" indent="0" marL="0">
              <a:lnSpc>
                <a:spcPts val="3150"/>
              </a:lnSpc>
              <a:buNone/>
            </a:pPr>
            <a:r>
              <a:rPr lang="en-US" sz="2500" dirty="0">
                <a:solidFill>
                  <a:srgbClr val="091C53"/>
                </a:solidFill>
                <a:latin typeface="Instrument Sans Semi Bold" pitchFamily="34" charset="0"/>
                <a:ea typeface="Instrument Sans Semi Bold" pitchFamily="34" charset="-122"/>
                <a:cs typeface="Instrument Sans Semi Bold" pitchFamily="34" charset="-120"/>
              </a:rPr>
              <a:t>Analyse des Risques &amp; Recommandations</a:t>
            </a:r>
            <a:endParaRPr lang="en-US" sz="2500" dirty="0"/>
          </a:p>
        </p:txBody>
      </p:sp>
      <p:sp>
        <p:nvSpPr>
          <p:cNvPr id="3" name="Text 1"/>
          <p:cNvSpPr/>
          <p:nvPr/>
        </p:nvSpPr>
        <p:spPr>
          <a:xfrm>
            <a:off x="3252668" y="1076801"/>
            <a:ext cx="2553176" cy="240744"/>
          </a:xfrm>
          <a:prstGeom prst="rect">
            <a:avLst/>
          </a:prstGeom>
          <a:noFill/>
          <a:ln/>
        </p:spPr>
        <p:txBody>
          <a:bodyPr wrap="none" lIns="0" tIns="0" rIns="0" bIns="0" rtlCol="0" anchor="t"/>
          <a:lstStyle/>
          <a:p>
            <a:pPr algn="l" indent="0" marL="0">
              <a:lnSpc>
                <a:spcPts val="1850"/>
              </a:lnSpc>
              <a:buNone/>
            </a:pPr>
            <a:r>
              <a:rPr lang="en-US" sz="1500" dirty="0">
                <a:solidFill>
                  <a:srgbClr val="091C53"/>
                </a:solidFill>
                <a:latin typeface="Instrument Sans Semi Bold" pitchFamily="34" charset="0"/>
                <a:ea typeface="Instrument Sans Semi Bold" pitchFamily="34" charset="-122"/>
                <a:cs typeface="Instrument Sans Semi Bold" pitchFamily="34" charset="-120"/>
              </a:rPr>
              <a:t>Risques pour les Entreprises</a:t>
            </a:r>
            <a:endParaRPr lang="en-US" sz="1500" dirty="0"/>
          </a:p>
        </p:txBody>
      </p:sp>
      <p:sp>
        <p:nvSpPr>
          <p:cNvPr id="4" name="Shape 2"/>
          <p:cNvSpPr/>
          <p:nvPr/>
        </p:nvSpPr>
        <p:spPr>
          <a:xfrm>
            <a:off x="3252668" y="1461968"/>
            <a:ext cx="3905845" cy="4319111"/>
          </a:xfrm>
          <a:prstGeom prst="roundRect">
            <a:avLst>
              <a:gd name="adj" fmla="val 2960"/>
            </a:avLst>
          </a:prstGeom>
          <a:noFill/>
          <a:ln w="7620">
            <a:solidFill>
              <a:srgbClr val="000000">
                <a:alpha val="8000"/>
              </a:srgbClr>
            </a:solidFill>
            <a:prstDash val="solid"/>
          </a:ln>
        </p:spPr>
      </p:sp>
      <p:sp>
        <p:nvSpPr>
          <p:cNvPr id="5" name="Shape 3"/>
          <p:cNvSpPr/>
          <p:nvPr/>
        </p:nvSpPr>
        <p:spPr>
          <a:xfrm>
            <a:off x="3260288" y="1469588"/>
            <a:ext cx="3890605" cy="374809"/>
          </a:xfrm>
          <a:prstGeom prst="rect">
            <a:avLst/>
          </a:prstGeom>
          <a:solidFill>
            <a:srgbClr val="FFFFFF">
              <a:alpha val="4000"/>
            </a:srgbClr>
          </a:solidFill>
          <a:ln/>
        </p:spPr>
      </p:sp>
      <p:sp>
        <p:nvSpPr>
          <p:cNvPr id="6" name="Text 4"/>
          <p:cNvSpPr/>
          <p:nvPr/>
        </p:nvSpPr>
        <p:spPr>
          <a:xfrm>
            <a:off x="3388876" y="1554242"/>
            <a:ext cx="517565" cy="205502"/>
          </a:xfrm>
          <a:prstGeom prst="rect">
            <a:avLst/>
          </a:prstGeom>
          <a:noFill/>
          <a:ln/>
        </p:spPr>
        <p:txBody>
          <a:bodyPr wrap="none" lIns="0" tIns="0" rIns="0" bIns="0" rtlCol="0" anchor="t"/>
          <a:lstStyle/>
          <a:p>
            <a:pPr algn="l" indent="0" marL="0">
              <a:lnSpc>
                <a:spcPts val="1600"/>
              </a:lnSpc>
              <a:buNone/>
            </a:pPr>
            <a:r>
              <a:rPr lang="en-US" sz="1000" b="1" dirty="0">
                <a:solidFill>
                  <a:srgbClr val="1E3063"/>
                </a:solidFill>
                <a:latin typeface="Instrument Sans Medium" pitchFamily="34" charset="0"/>
                <a:ea typeface="Instrument Sans Medium" pitchFamily="34" charset="-122"/>
                <a:cs typeface="Instrument Sans Medium" pitchFamily="34" charset="-120"/>
              </a:rPr>
              <a:t>Risque</a:t>
            </a:r>
            <a:endParaRPr lang="en-US" sz="1000" dirty="0"/>
          </a:p>
        </p:txBody>
      </p:sp>
      <p:sp>
        <p:nvSpPr>
          <p:cNvPr id="7" name="Text 5"/>
          <p:cNvSpPr/>
          <p:nvPr/>
        </p:nvSpPr>
        <p:spPr>
          <a:xfrm>
            <a:off x="4170759" y="1554242"/>
            <a:ext cx="513755" cy="205502"/>
          </a:xfrm>
          <a:prstGeom prst="rect">
            <a:avLst/>
          </a:prstGeom>
          <a:noFill/>
          <a:ln/>
        </p:spPr>
        <p:txBody>
          <a:bodyPr wrap="none" lIns="0" tIns="0" rIns="0" bIns="0" rtlCol="0" anchor="t"/>
          <a:lstStyle/>
          <a:p>
            <a:pPr algn="l" indent="0" marL="0">
              <a:lnSpc>
                <a:spcPts val="1600"/>
              </a:lnSpc>
              <a:buNone/>
            </a:pPr>
            <a:r>
              <a:rPr lang="en-US" sz="1000" b="1" dirty="0">
                <a:solidFill>
                  <a:srgbClr val="1E3063"/>
                </a:solidFill>
                <a:latin typeface="Instrument Sans Medium" pitchFamily="34" charset="0"/>
                <a:ea typeface="Instrument Sans Medium" pitchFamily="34" charset="-122"/>
                <a:cs typeface="Instrument Sans Medium" pitchFamily="34" charset="-120"/>
              </a:rPr>
              <a:t>Niveau</a:t>
            </a:r>
            <a:endParaRPr lang="en-US" sz="1000" dirty="0"/>
          </a:p>
        </p:txBody>
      </p:sp>
      <p:sp>
        <p:nvSpPr>
          <p:cNvPr id="8" name="Text 6"/>
          <p:cNvSpPr/>
          <p:nvPr/>
        </p:nvSpPr>
        <p:spPr>
          <a:xfrm>
            <a:off x="4948833" y="1554242"/>
            <a:ext cx="513755" cy="205502"/>
          </a:xfrm>
          <a:prstGeom prst="rect">
            <a:avLst/>
          </a:prstGeom>
          <a:noFill/>
          <a:ln/>
        </p:spPr>
        <p:txBody>
          <a:bodyPr wrap="none" lIns="0" tIns="0" rIns="0" bIns="0" rtlCol="0" anchor="t"/>
          <a:lstStyle/>
          <a:p>
            <a:pPr algn="l" indent="0" marL="0">
              <a:lnSpc>
                <a:spcPts val="1600"/>
              </a:lnSpc>
              <a:buNone/>
            </a:pPr>
            <a:r>
              <a:rPr lang="en-US" sz="1000" b="1" dirty="0">
                <a:solidFill>
                  <a:srgbClr val="1E3063"/>
                </a:solidFill>
                <a:latin typeface="Instrument Sans Medium" pitchFamily="34" charset="0"/>
                <a:ea typeface="Instrument Sans Medium" pitchFamily="34" charset="-122"/>
                <a:cs typeface="Instrument Sans Medium" pitchFamily="34" charset="-120"/>
              </a:rPr>
              <a:t>Impact</a:t>
            </a:r>
            <a:endParaRPr lang="en-US" sz="1000" dirty="0"/>
          </a:p>
        </p:txBody>
      </p:sp>
      <p:sp>
        <p:nvSpPr>
          <p:cNvPr id="9" name="Text 7"/>
          <p:cNvSpPr/>
          <p:nvPr/>
        </p:nvSpPr>
        <p:spPr>
          <a:xfrm>
            <a:off x="5726906" y="1554242"/>
            <a:ext cx="1295638" cy="205502"/>
          </a:xfrm>
          <a:prstGeom prst="rect">
            <a:avLst/>
          </a:prstGeom>
          <a:noFill/>
          <a:ln/>
        </p:spPr>
        <p:txBody>
          <a:bodyPr wrap="none" lIns="0" tIns="0" rIns="0" bIns="0" rtlCol="0" anchor="t"/>
          <a:lstStyle/>
          <a:p>
            <a:pPr algn="l" indent="0" marL="0">
              <a:lnSpc>
                <a:spcPts val="1600"/>
              </a:lnSpc>
              <a:buNone/>
            </a:pPr>
            <a:r>
              <a:rPr lang="en-US" sz="1000" b="1" dirty="0">
                <a:solidFill>
                  <a:srgbClr val="1E3063"/>
                </a:solidFill>
                <a:latin typeface="Instrument Sans Medium" pitchFamily="34" charset="0"/>
                <a:ea typeface="Instrument Sans Medium" pitchFamily="34" charset="-122"/>
                <a:cs typeface="Instrument Sans Medium" pitchFamily="34" charset="-120"/>
              </a:rPr>
              <a:t>Description</a:t>
            </a:r>
            <a:endParaRPr lang="en-US" sz="1000" dirty="0"/>
          </a:p>
        </p:txBody>
      </p:sp>
      <p:sp>
        <p:nvSpPr>
          <p:cNvPr id="10" name="Shape 8"/>
          <p:cNvSpPr/>
          <p:nvPr/>
        </p:nvSpPr>
        <p:spPr>
          <a:xfrm>
            <a:off x="3260288" y="1844397"/>
            <a:ext cx="3890605" cy="785813"/>
          </a:xfrm>
          <a:prstGeom prst="rect">
            <a:avLst/>
          </a:prstGeom>
          <a:solidFill>
            <a:srgbClr val="000000">
              <a:alpha val="4000"/>
            </a:srgbClr>
          </a:solidFill>
          <a:ln/>
        </p:spPr>
      </p:sp>
      <p:sp>
        <p:nvSpPr>
          <p:cNvPr id="11" name="Text 9"/>
          <p:cNvSpPr/>
          <p:nvPr/>
        </p:nvSpPr>
        <p:spPr>
          <a:xfrm>
            <a:off x="3388876" y="1929051"/>
            <a:ext cx="51756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Ransomware</a:t>
            </a:r>
            <a:endParaRPr lang="en-US" sz="1000" dirty="0"/>
          </a:p>
        </p:txBody>
      </p:sp>
      <p:sp>
        <p:nvSpPr>
          <p:cNvPr id="12" name="Text 10"/>
          <p:cNvSpPr/>
          <p:nvPr/>
        </p:nvSpPr>
        <p:spPr>
          <a:xfrm>
            <a:off x="4170759" y="1929051"/>
            <a:ext cx="513755" cy="205502"/>
          </a:xfrm>
          <a:prstGeom prst="rect">
            <a:avLst/>
          </a:prstGeom>
          <a:noFill/>
          <a:ln/>
        </p:spPr>
        <p:txBody>
          <a:bodyPr wrap="non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Élevé</a:t>
            </a:r>
            <a:endParaRPr lang="en-US" sz="1000" dirty="0"/>
          </a:p>
        </p:txBody>
      </p:sp>
      <p:sp>
        <p:nvSpPr>
          <p:cNvPr id="13" name="Text 11"/>
          <p:cNvSpPr/>
          <p:nvPr/>
        </p:nvSpPr>
        <p:spPr>
          <a:xfrm>
            <a:off x="4948833" y="1929051"/>
            <a:ext cx="51375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Perte activité</a:t>
            </a:r>
            <a:endParaRPr lang="en-US" sz="1000" dirty="0"/>
          </a:p>
        </p:txBody>
      </p:sp>
      <p:sp>
        <p:nvSpPr>
          <p:cNvPr id="14" name="Text 12"/>
          <p:cNvSpPr/>
          <p:nvPr/>
        </p:nvSpPr>
        <p:spPr>
          <a:xfrm>
            <a:off x="5726906" y="1929051"/>
            <a:ext cx="1295638" cy="616506"/>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Attaques automatisées, chiffrement total</a:t>
            </a:r>
            <a:endParaRPr lang="en-US" sz="1000" dirty="0"/>
          </a:p>
        </p:txBody>
      </p:sp>
      <p:sp>
        <p:nvSpPr>
          <p:cNvPr id="15" name="Shape 13"/>
          <p:cNvSpPr/>
          <p:nvPr/>
        </p:nvSpPr>
        <p:spPr>
          <a:xfrm>
            <a:off x="3260288" y="2630210"/>
            <a:ext cx="3890605" cy="785813"/>
          </a:xfrm>
          <a:prstGeom prst="rect">
            <a:avLst/>
          </a:prstGeom>
          <a:solidFill>
            <a:srgbClr val="FFFFFF">
              <a:alpha val="4000"/>
            </a:srgbClr>
          </a:solidFill>
          <a:ln/>
        </p:spPr>
      </p:sp>
      <p:sp>
        <p:nvSpPr>
          <p:cNvPr id="16" name="Text 14"/>
          <p:cNvSpPr/>
          <p:nvPr/>
        </p:nvSpPr>
        <p:spPr>
          <a:xfrm>
            <a:off x="3388876" y="2714863"/>
            <a:ext cx="51756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Phishing IA</a:t>
            </a:r>
            <a:endParaRPr lang="en-US" sz="1000" dirty="0"/>
          </a:p>
        </p:txBody>
      </p:sp>
      <p:sp>
        <p:nvSpPr>
          <p:cNvPr id="17" name="Text 15"/>
          <p:cNvSpPr/>
          <p:nvPr/>
        </p:nvSpPr>
        <p:spPr>
          <a:xfrm>
            <a:off x="4170759" y="2714863"/>
            <a:ext cx="513755" cy="205502"/>
          </a:xfrm>
          <a:prstGeom prst="rect">
            <a:avLst/>
          </a:prstGeom>
          <a:noFill/>
          <a:ln/>
        </p:spPr>
        <p:txBody>
          <a:bodyPr wrap="non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Élevé</a:t>
            </a:r>
            <a:endParaRPr lang="en-US" sz="1000" dirty="0"/>
          </a:p>
        </p:txBody>
      </p:sp>
      <p:sp>
        <p:nvSpPr>
          <p:cNvPr id="18" name="Text 16"/>
          <p:cNvSpPr/>
          <p:nvPr/>
        </p:nvSpPr>
        <p:spPr>
          <a:xfrm>
            <a:off x="4948833" y="2714863"/>
            <a:ext cx="513755" cy="616506"/>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Vol identifiants</a:t>
            </a:r>
            <a:endParaRPr lang="en-US" sz="1000" dirty="0"/>
          </a:p>
        </p:txBody>
      </p:sp>
      <p:sp>
        <p:nvSpPr>
          <p:cNvPr id="19" name="Text 17"/>
          <p:cNvSpPr/>
          <p:nvPr/>
        </p:nvSpPr>
        <p:spPr>
          <a:xfrm>
            <a:off x="5726906" y="2714863"/>
            <a:ext cx="1295638"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Emails crédibles, difficiles à détecter</a:t>
            </a:r>
            <a:endParaRPr lang="en-US" sz="1000" dirty="0"/>
          </a:p>
        </p:txBody>
      </p:sp>
      <p:sp>
        <p:nvSpPr>
          <p:cNvPr id="20" name="Shape 18"/>
          <p:cNvSpPr/>
          <p:nvPr/>
        </p:nvSpPr>
        <p:spPr>
          <a:xfrm>
            <a:off x="3260288" y="3416022"/>
            <a:ext cx="3890605" cy="785813"/>
          </a:xfrm>
          <a:prstGeom prst="rect">
            <a:avLst/>
          </a:prstGeom>
          <a:solidFill>
            <a:srgbClr val="000000">
              <a:alpha val="4000"/>
            </a:srgbClr>
          </a:solidFill>
          <a:ln/>
        </p:spPr>
      </p:sp>
      <p:sp>
        <p:nvSpPr>
          <p:cNvPr id="21" name="Text 19"/>
          <p:cNvSpPr/>
          <p:nvPr/>
        </p:nvSpPr>
        <p:spPr>
          <a:xfrm>
            <a:off x="3388876" y="3500676"/>
            <a:ext cx="517565" cy="616506"/>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Fuite données cloud</a:t>
            </a:r>
            <a:endParaRPr lang="en-US" sz="1000" dirty="0"/>
          </a:p>
        </p:txBody>
      </p:sp>
      <p:sp>
        <p:nvSpPr>
          <p:cNvPr id="22" name="Text 20"/>
          <p:cNvSpPr/>
          <p:nvPr/>
        </p:nvSpPr>
        <p:spPr>
          <a:xfrm>
            <a:off x="4170759" y="3500676"/>
            <a:ext cx="51375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Moyen/Élevé</a:t>
            </a:r>
            <a:endParaRPr lang="en-US" sz="1000" dirty="0"/>
          </a:p>
        </p:txBody>
      </p:sp>
      <p:sp>
        <p:nvSpPr>
          <p:cNvPr id="23" name="Text 21"/>
          <p:cNvSpPr/>
          <p:nvPr/>
        </p:nvSpPr>
        <p:spPr>
          <a:xfrm>
            <a:off x="4948833" y="3500676"/>
            <a:ext cx="51375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RGPD, image</a:t>
            </a:r>
            <a:endParaRPr lang="en-US" sz="1000" dirty="0"/>
          </a:p>
        </p:txBody>
      </p:sp>
      <p:sp>
        <p:nvSpPr>
          <p:cNvPr id="24" name="Text 22"/>
          <p:cNvSpPr/>
          <p:nvPr/>
        </p:nvSpPr>
        <p:spPr>
          <a:xfrm>
            <a:off x="5726906" y="3500676"/>
            <a:ext cx="1295638" cy="616506"/>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Mauvaise configuration, clés API</a:t>
            </a:r>
            <a:endParaRPr lang="en-US" sz="1000" dirty="0"/>
          </a:p>
        </p:txBody>
      </p:sp>
      <p:sp>
        <p:nvSpPr>
          <p:cNvPr id="25" name="Shape 23"/>
          <p:cNvSpPr/>
          <p:nvPr/>
        </p:nvSpPr>
        <p:spPr>
          <a:xfrm>
            <a:off x="3260288" y="4201835"/>
            <a:ext cx="3890605" cy="991314"/>
          </a:xfrm>
          <a:prstGeom prst="rect">
            <a:avLst/>
          </a:prstGeom>
          <a:solidFill>
            <a:srgbClr val="FFFFFF">
              <a:alpha val="4000"/>
            </a:srgbClr>
          </a:solidFill>
          <a:ln/>
        </p:spPr>
      </p:sp>
      <p:sp>
        <p:nvSpPr>
          <p:cNvPr id="26" name="Text 24"/>
          <p:cNvSpPr/>
          <p:nvPr/>
        </p:nvSpPr>
        <p:spPr>
          <a:xfrm>
            <a:off x="3388876" y="4286488"/>
            <a:ext cx="517565" cy="822008"/>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Dépendances vulnérables</a:t>
            </a:r>
            <a:endParaRPr lang="en-US" sz="1000" dirty="0"/>
          </a:p>
        </p:txBody>
      </p:sp>
      <p:sp>
        <p:nvSpPr>
          <p:cNvPr id="27" name="Text 25"/>
          <p:cNvSpPr/>
          <p:nvPr/>
        </p:nvSpPr>
        <p:spPr>
          <a:xfrm>
            <a:off x="4170759" y="4286488"/>
            <a:ext cx="513755" cy="205502"/>
          </a:xfrm>
          <a:prstGeom prst="rect">
            <a:avLst/>
          </a:prstGeom>
          <a:noFill/>
          <a:ln/>
        </p:spPr>
        <p:txBody>
          <a:bodyPr wrap="non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Moyen</a:t>
            </a:r>
            <a:endParaRPr lang="en-US" sz="1000" dirty="0"/>
          </a:p>
        </p:txBody>
      </p:sp>
      <p:sp>
        <p:nvSpPr>
          <p:cNvPr id="28" name="Text 26"/>
          <p:cNvSpPr/>
          <p:nvPr/>
        </p:nvSpPr>
        <p:spPr>
          <a:xfrm>
            <a:off x="4948833" y="4286488"/>
            <a:ext cx="513755" cy="616506"/>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Entrée dans le SI</a:t>
            </a:r>
            <a:endParaRPr lang="en-US" sz="1000" dirty="0"/>
          </a:p>
        </p:txBody>
      </p:sp>
      <p:sp>
        <p:nvSpPr>
          <p:cNvPr id="29" name="Text 27"/>
          <p:cNvSpPr/>
          <p:nvPr/>
        </p:nvSpPr>
        <p:spPr>
          <a:xfrm>
            <a:off x="5726906" y="4286488"/>
            <a:ext cx="1295638"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Chaîne d'approvisionnement</a:t>
            </a:r>
            <a:endParaRPr lang="en-US" sz="1000" dirty="0"/>
          </a:p>
        </p:txBody>
      </p:sp>
      <p:sp>
        <p:nvSpPr>
          <p:cNvPr id="30" name="Shape 28"/>
          <p:cNvSpPr/>
          <p:nvPr/>
        </p:nvSpPr>
        <p:spPr>
          <a:xfrm>
            <a:off x="3260288" y="5193149"/>
            <a:ext cx="3890605" cy="580311"/>
          </a:xfrm>
          <a:prstGeom prst="rect">
            <a:avLst/>
          </a:prstGeom>
          <a:solidFill>
            <a:srgbClr val="000000">
              <a:alpha val="4000"/>
            </a:srgbClr>
          </a:solidFill>
          <a:ln/>
        </p:spPr>
      </p:sp>
      <p:sp>
        <p:nvSpPr>
          <p:cNvPr id="31" name="Text 29"/>
          <p:cNvSpPr/>
          <p:nvPr/>
        </p:nvSpPr>
        <p:spPr>
          <a:xfrm>
            <a:off x="3388876" y="5277803"/>
            <a:ext cx="51756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IoT exposés</a:t>
            </a:r>
            <a:endParaRPr lang="en-US" sz="1000" dirty="0"/>
          </a:p>
        </p:txBody>
      </p:sp>
      <p:sp>
        <p:nvSpPr>
          <p:cNvPr id="32" name="Text 30"/>
          <p:cNvSpPr/>
          <p:nvPr/>
        </p:nvSpPr>
        <p:spPr>
          <a:xfrm>
            <a:off x="4170759" y="5277803"/>
            <a:ext cx="513755" cy="205502"/>
          </a:xfrm>
          <a:prstGeom prst="rect">
            <a:avLst/>
          </a:prstGeom>
          <a:noFill/>
          <a:ln/>
        </p:spPr>
        <p:txBody>
          <a:bodyPr wrap="non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Moyen</a:t>
            </a:r>
            <a:endParaRPr lang="en-US" sz="1000" dirty="0"/>
          </a:p>
        </p:txBody>
      </p:sp>
      <p:sp>
        <p:nvSpPr>
          <p:cNvPr id="33" name="Text 31"/>
          <p:cNvSpPr/>
          <p:nvPr/>
        </p:nvSpPr>
        <p:spPr>
          <a:xfrm>
            <a:off x="4948833" y="5277803"/>
            <a:ext cx="513755"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Accès réseau</a:t>
            </a:r>
            <a:endParaRPr lang="en-US" sz="1000" dirty="0"/>
          </a:p>
        </p:txBody>
      </p:sp>
      <p:sp>
        <p:nvSpPr>
          <p:cNvPr id="34" name="Text 32"/>
          <p:cNvSpPr/>
          <p:nvPr/>
        </p:nvSpPr>
        <p:spPr>
          <a:xfrm>
            <a:off x="5726906" y="5277803"/>
            <a:ext cx="1295638" cy="411004"/>
          </a:xfrm>
          <a:prstGeom prst="rect">
            <a:avLst/>
          </a:prstGeom>
          <a:noFill/>
          <a:ln/>
        </p:spPr>
        <p:txBody>
          <a:bodyPr wrap="square" lIns="0" tIns="0" rIns="0" bIns="0" rtlCol="0" anchor="t"/>
          <a:lstStyle/>
          <a:p>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Matériel non mis à jour</a:t>
            </a:r>
            <a:endParaRPr lang="en-US" sz="1000" dirty="0"/>
          </a:p>
        </p:txBody>
      </p:sp>
      <p:sp>
        <p:nvSpPr>
          <p:cNvPr id="35" name="Text 33"/>
          <p:cNvSpPr/>
          <p:nvPr/>
        </p:nvSpPr>
        <p:spPr>
          <a:xfrm>
            <a:off x="7479506" y="1076801"/>
            <a:ext cx="2698075" cy="240744"/>
          </a:xfrm>
          <a:prstGeom prst="rect">
            <a:avLst/>
          </a:prstGeom>
          <a:noFill/>
          <a:ln/>
        </p:spPr>
        <p:txBody>
          <a:bodyPr wrap="none" lIns="0" tIns="0" rIns="0" bIns="0" rtlCol="0" anchor="t"/>
          <a:lstStyle/>
          <a:p>
            <a:pPr algn="l" indent="0" marL="0">
              <a:lnSpc>
                <a:spcPts val="1850"/>
              </a:lnSpc>
              <a:buNone/>
            </a:pPr>
            <a:r>
              <a:rPr lang="en-US" sz="1500" dirty="0">
                <a:solidFill>
                  <a:srgbClr val="091C53"/>
                </a:solidFill>
                <a:latin typeface="Instrument Sans Semi Bold" pitchFamily="34" charset="0"/>
                <a:ea typeface="Instrument Sans Semi Bold" pitchFamily="34" charset="-122"/>
                <a:cs typeface="Instrument Sans Semi Bold" pitchFamily="34" charset="-120"/>
              </a:rPr>
              <a:t>Recommandations Concrètes</a:t>
            </a:r>
            <a:endParaRPr lang="en-US" sz="1500" dirty="0"/>
          </a:p>
        </p:txBody>
      </p:sp>
      <p:sp>
        <p:nvSpPr>
          <p:cNvPr id="36" name="Text 34"/>
          <p:cNvSpPr/>
          <p:nvPr/>
        </p:nvSpPr>
        <p:spPr>
          <a:xfrm>
            <a:off x="7479506" y="1445895"/>
            <a:ext cx="3905845" cy="411004"/>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E3063"/>
                </a:solidFill>
                <a:latin typeface="Instrument Sans Medium" pitchFamily="34" charset="0"/>
                <a:ea typeface="Instrument Sans Medium" pitchFamily="34" charset="-122"/>
                <a:cs typeface="Instrument Sans Medium" pitchFamily="34" charset="-120"/>
              </a:rPr>
              <a:t>Sécurité opérationnelle :</a:t>
            </a:r>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 MFA, EDR/XDR, sauvegardes chiffrées, formations anti-phishing.</a:t>
            </a:r>
            <a:endParaRPr lang="en-US" sz="1000" dirty="0"/>
          </a:p>
        </p:txBody>
      </p:sp>
      <p:sp>
        <p:nvSpPr>
          <p:cNvPr id="37" name="Text 35"/>
          <p:cNvSpPr/>
          <p:nvPr/>
        </p:nvSpPr>
        <p:spPr>
          <a:xfrm>
            <a:off x="7479506" y="1901785"/>
            <a:ext cx="3905845" cy="411004"/>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E3063"/>
                </a:solidFill>
                <a:latin typeface="Instrument Sans Medium" pitchFamily="34" charset="0"/>
                <a:ea typeface="Instrument Sans Medium" pitchFamily="34" charset="-122"/>
                <a:cs typeface="Instrument Sans Medium" pitchFamily="34" charset="-120"/>
              </a:rPr>
              <a:t>Chaîne logicielle :</a:t>
            </a:r>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 SBOM (Syft/Trivy), scan dépendances (CI/CD), alertes vulnérabilités.</a:t>
            </a:r>
            <a:endParaRPr lang="en-US" sz="1000" dirty="0"/>
          </a:p>
        </p:txBody>
      </p:sp>
      <p:sp>
        <p:nvSpPr>
          <p:cNvPr id="38" name="Text 36"/>
          <p:cNvSpPr/>
          <p:nvPr/>
        </p:nvSpPr>
        <p:spPr>
          <a:xfrm>
            <a:off x="7479506" y="2357676"/>
            <a:ext cx="3905845" cy="411004"/>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E3063"/>
                </a:solidFill>
                <a:latin typeface="Instrument Sans Medium" pitchFamily="34" charset="0"/>
                <a:ea typeface="Instrument Sans Medium" pitchFamily="34" charset="-122"/>
                <a:cs typeface="Instrument Sans Medium" pitchFamily="34" charset="-120"/>
              </a:rPr>
              <a:t>Sécuriser le cloud :</a:t>
            </a:r>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 CSPM (Wiz, Prisma), audit IAM, désactivation clés API.</a:t>
            </a:r>
            <a:endParaRPr lang="en-US" sz="1000" dirty="0"/>
          </a:p>
        </p:txBody>
      </p:sp>
      <p:sp>
        <p:nvSpPr>
          <p:cNvPr id="39" name="Text 37"/>
          <p:cNvSpPr/>
          <p:nvPr/>
        </p:nvSpPr>
        <p:spPr>
          <a:xfrm>
            <a:off x="7479506" y="2813566"/>
            <a:ext cx="3905845" cy="411004"/>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E3063"/>
                </a:solidFill>
                <a:latin typeface="Instrument Sans Medium" pitchFamily="34" charset="0"/>
                <a:ea typeface="Instrument Sans Medium" pitchFamily="34" charset="-122"/>
                <a:cs typeface="Instrument Sans Medium" pitchFamily="34" charset="-120"/>
              </a:rPr>
              <a:t>Zero Trust :</a:t>
            </a:r>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 Segmentation réseau, moindre privilège, vérification continue.</a:t>
            </a:r>
            <a:endParaRPr lang="en-US" sz="1000" dirty="0"/>
          </a:p>
        </p:txBody>
      </p:sp>
      <p:sp>
        <p:nvSpPr>
          <p:cNvPr id="40" name="Text 38"/>
          <p:cNvSpPr/>
          <p:nvPr/>
        </p:nvSpPr>
        <p:spPr>
          <a:xfrm>
            <a:off x="7479506" y="3269456"/>
            <a:ext cx="3905845" cy="411004"/>
          </a:xfrm>
          <a:prstGeom prst="rect">
            <a:avLst/>
          </a:prstGeom>
          <a:noFill/>
          <a:ln/>
        </p:spPr>
        <p:txBody>
          <a:bodyPr wrap="square" lIns="0" tIns="0" rIns="0" bIns="0" rtlCol="0" anchor="t"/>
          <a:lstStyle/>
          <a:p>
            <a:pPr algn="l" marL="342900" indent="-342900">
              <a:lnSpc>
                <a:spcPts val="1600"/>
              </a:lnSpc>
              <a:buSzPct val="100000"/>
              <a:buChar char="•"/>
            </a:pPr>
            <a:r>
              <a:rPr lang="en-US" sz="1000" b="1" dirty="0">
                <a:solidFill>
                  <a:srgbClr val="1E3063"/>
                </a:solidFill>
                <a:latin typeface="Instrument Sans Medium" pitchFamily="34" charset="0"/>
                <a:ea typeface="Instrument Sans Medium" pitchFamily="34" charset="-122"/>
                <a:cs typeface="Instrument Sans Medium" pitchFamily="34" charset="-120"/>
              </a:rPr>
              <a:t>Automatiser la veille :</a:t>
            </a:r>
            <a:pPr algn="l" indent="0" marL="0">
              <a:lnSpc>
                <a:spcPts val="16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 Feedly (CERT-FR/ANSSI), Google Alerts.</a:t>
            </a:r>
            <a:endParaRPr lang="en-US" sz="1000" dirty="0"/>
          </a:p>
        </p:txBody>
      </p:sp>
      <p:pic>
        <p:nvPicPr>
          <p:cNvPr id="41" name="Image 0" descr="preencoded.png">    </p:cNvPr>
          <p:cNvPicPr>
            <a:picLocks noChangeAspect="1"/>
          </p:cNvPicPr>
          <p:nvPr/>
        </p:nvPicPr>
        <p:blipFill>
          <a:blip r:embed="rId1"/>
          <a:stretch>
            <a:fillRect/>
          </a:stretch>
        </p:blipFill>
        <p:spPr>
          <a:xfrm>
            <a:off x="7479506" y="3824883"/>
            <a:ext cx="3905845" cy="39058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562213" y="822841"/>
            <a:ext cx="7808357" cy="501968"/>
          </a:xfrm>
          <a:prstGeom prst="rect">
            <a:avLst/>
          </a:prstGeom>
          <a:noFill/>
          <a:ln/>
        </p:spPr>
        <p:txBody>
          <a:bodyPr wrap="none" lIns="0" tIns="0" rIns="0" bIns="0" rtlCol="0" anchor="t"/>
          <a:lstStyle/>
          <a:p>
            <a:pPr algn="l" indent="0" marL="0">
              <a:lnSpc>
                <a:spcPts val="3950"/>
              </a:lnSpc>
              <a:buNone/>
            </a:pPr>
            <a:r>
              <a:rPr lang="en-US" sz="3150" dirty="0">
                <a:solidFill>
                  <a:srgbClr val="091C53"/>
                </a:solidFill>
                <a:latin typeface="Instrument Sans Semi Bold" pitchFamily="34" charset="0"/>
                <a:ea typeface="Instrument Sans Semi Bold" pitchFamily="34" charset="-122"/>
                <a:cs typeface="Instrument Sans Semi Bold" pitchFamily="34" charset="-120"/>
              </a:rPr>
              <a:t>Conclusion : Une Cybersécurité Proactive</a:t>
            </a:r>
            <a:endParaRPr lang="en-US" sz="3150" dirty="0"/>
          </a:p>
        </p:txBody>
      </p:sp>
      <p:sp>
        <p:nvSpPr>
          <p:cNvPr id="4" name="Text 1"/>
          <p:cNvSpPr/>
          <p:nvPr/>
        </p:nvSpPr>
        <p:spPr>
          <a:xfrm>
            <a:off x="562213" y="1565672"/>
            <a:ext cx="8019574" cy="513874"/>
          </a:xfrm>
          <a:prstGeom prst="rect">
            <a:avLst/>
          </a:prstGeom>
          <a:noFill/>
          <a:ln/>
        </p:spPr>
        <p:txBody>
          <a:bodyPr wrap="squar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La cybersécurité est un enjeu stratégique majeur. Face à l'évolution rapide des menaces, les entreprises doivent adopter une approche proactive.</a:t>
            </a:r>
            <a:endParaRPr lang="en-US" sz="1250" dirty="0"/>
          </a:p>
        </p:txBody>
      </p:sp>
      <p:sp>
        <p:nvSpPr>
          <p:cNvPr id="5" name="Shape 2"/>
          <p:cNvSpPr/>
          <p:nvPr/>
        </p:nvSpPr>
        <p:spPr>
          <a:xfrm>
            <a:off x="562213" y="2260163"/>
            <a:ext cx="8019574" cy="5146596"/>
          </a:xfrm>
          <a:prstGeom prst="roundRect">
            <a:avLst>
              <a:gd name="adj" fmla="val 2809"/>
            </a:avLst>
          </a:prstGeom>
          <a:solidFill>
            <a:srgbClr val="CEE6FD"/>
          </a:solidFill>
          <a:ln/>
        </p:spPr>
      </p:sp>
      <p:sp>
        <p:nvSpPr>
          <p:cNvPr id="6" name="Shape 3"/>
          <p:cNvSpPr/>
          <p:nvPr/>
        </p:nvSpPr>
        <p:spPr>
          <a:xfrm>
            <a:off x="562213" y="2260163"/>
            <a:ext cx="8019574" cy="1166217"/>
          </a:xfrm>
          <a:prstGeom prst="roundRect">
            <a:avLst>
              <a:gd name="adj" fmla="val 12397"/>
            </a:avLst>
          </a:prstGeom>
          <a:solidFill>
            <a:srgbClr val="CEE6FD"/>
          </a:solidFill>
          <a:ln/>
        </p:spPr>
      </p:sp>
      <p:sp>
        <p:nvSpPr>
          <p:cNvPr id="7" name="Text 4"/>
          <p:cNvSpPr/>
          <p:nvPr/>
        </p:nvSpPr>
        <p:spPr>
          <a:xfrm>
            <a:off x="722828" y="2420779"/>
            <a:ext cx="2007870" cy="250865"/>
          </a:xfrm>
          <a:prstGeom prst="rect">
            <a:avLst/>
          </a:prstGeom>
          <a:noFill/>
          <a:ln/>
        </p:spPr>
        <p:txBody>
          <a:bodyPr wrap="none" lIns="0" tIns="0" rIns="0" bIns="0" rtlCol="0" anchor="t"/>
          <a:lstStyle/>
          <a:p>
            <a:pPr algn="l" indent="0" marL="0">
              <a:lnSpc>
                <a:spcPts val="19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Anticiper les Risques</a:t>
            </a:r>
            <a:endParaRPr lang="en-US" sz="1550" dirty="0"/>
          </a:p>
        </p:txBody>
      </p:sp>
      <p:sp>
        <p:nvSpPr>
          <p:cNvPr id="8" name="Text 5"/>
          <p:cNvSpPr/>
          <p:nvPr/>
        </p:nvSpPr>
        <p:spPr>
          <a:xfrm>
            <a:off x="722828" y="2767965"/>
            <a:ext cx="7698343" cy="256937"/>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Identifier les vulnérabilités avant qu'elles ne soient exploitées.</a:t>
            </a:r>
            <a:endParaRPr lang="en-US" sz="1250" dirty="0"/>
          </a:p>
        </p:txBody>
      </p:sp>
      <p:sp>
        <p:nvSpPr>
          <p:cNvPr id="9" name="Shape 6"/>
          <p:cNvSpPr/>
          <p:nvPr/>
        </p:nvSpPr>
        <p:spPr>
          <a:xfrm>
            <a:off x="562213" y="3426381"/>
            <a:ext cx="8019574" cy="1407081"/>
          </a:xfrm>
          <a:prstGeom prst="rect">
            <a:avLst/>
          </a:prstGeom>
          <a:solidFill>
            <a:srgbClr val="CEE6FD"/>
          </a:solidFill>
          <a:ln/>
        </p:spPr>
      </p:sp>
      <p:sp>
        <p:nvSpPr>
          <p:cNvPr id="10" name="Shape 7"/>
          <p:cNvSpPr/>
          <p:nvPr/>
        </p:nvSpPr>
        <p:spPr>
          <a:xfrm>
            <a:off x="562213" y="3426381"/>
            <a:ext cx="8019574" cy="22860"/>
          </a:xfrm>
          <a:prstGeom prst="roundRect">
            <a:avLst>
              <a:gd name="adj" fmla="val 632436"/>
            </a:avLst>
          </a:prstGeom>
          <a:solidFill>
            <a:srgbClr val="B4CCE3"/>
          </a:solidFill>
          <a:ln/>
        </p:spPr>
      </p:sp>
      <p:sp>
        <p:nvSpPr>
          <p:cNvPr id="11" name="Shape 8"/>
          <p:cNvSpPr/>
          <p:nvPr/>
        </p:nvSpPr>
        <p:spPr>
          <a:xfrm>
            <a:off x="4371142" y="3237071"/>
            <a:ext cx="401479" cy="401479"/>
          </a:xfrm>
          <a:prstGeom prst="roundRect">
            <a:avLst>
              <a:gd name="adj" fmla="val 36011"/>
            </a:avLst>
          </a:prstGeom>
          <a:solidFill>
            <a:srgbClr val="FFFFFF"/>
          </a:solidFill>
          <a:ln w="22860">
            <a:solidFill>
              <a:srgbClr val="B4CCE3"/>
            </a:solidFill>
            <a:prstDash val="solid"/>
          </a:ln>
        </p:spPr>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71511" y="3337441"/>
            <a:ext cx="200739" cy="200739"/>
          </a:xfrm>
          <a:prstGeom prst="rect">
            <a:avLst/>
          </a:prstGeom>
        </p:spPr>
      </p:pic>
      <p:sp>
        <p:nvSpPr>
          <p:cNvPr id="13" name="Text 9"/>
          <p:cNvSpPr/>
          <p:nvPr/>
        </p:nvSpPr>
        <p:spPr>
          <a:xfrm>
            <a:off x="722828" y="3827859"/>
            <a:ext cx="2148959" cy="250865"/>
          </a:xfrm>
          <a:prstGeom prst="rect">
            <a:avLst/>
          </a:prstGeom>
          <a:noFill/>
          <a:ln/>
        </p:spPr>
        <p:txBody>
          <a:bodyPr wrap="none" lIns="0" tIns="0" rIns="0" bIns="0" rtlCol="0" anchor="t"/>
          <a:lstStyle/>
          <a:p>
            <a:pPr algn="l" indent="0" marL="0">
              <a:lnSpc>
                <a:spcPts val="19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Mettre à Jour les Outils</a:t>
            </a:r>
            <a:endParaRPr lang="en-US" sz="1550" dirty="0"/>
          </a:p>
        </p:txBody>
      </p:sp>
      <p:sp>
        <p:nvSpPr>
          <p:cNvPr id="14" name="Text 10"/>
          <p:cNvSpPr/>
          <p:nvPr/>
        </p:nvSpPr>
        <p:spPr>
          <a:xfrm>
            <a:off x="722828" y="4175046"/>
            <a:ext cx="7698343" cy="256937"/>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Adopter les dernières technologies de défense.</a:t>
            </a:r>
            <a:endParaRPr lang="en-US" sz="1250" dirty="0"/>
          </a:p>
        </p:txBody>
      </p:sp>
      <p:sp>
        <p:nvSpPr>
          <p:cNvPr id="15" name="Shape 11"/>
          <p:cNvSpPr/>
          <p:nvPr/>
        </p:nvSpPr>
        <p:spPr>
          <a:xfrm>
            <a:off x="562213" y="4833461"/>
            <a:ext cx="8019574" cy="1407081"/>
          </a:xfrm>
          <a:prstGeom prst="rect">
            <a:avLst/>
          </a:prstGeom>
          <a:solidFill>
            <a:srgbClr val="CEE6FD"/>
          </a:solidFill>
          <a:ln/>
        </p:spPr>
      </p:sp>
      <p:sp>
        <p:nvSpPr>
          <p:cNvPr id="16" name="Shape 12"/>
          <p:cNvSpPr/>
          <p:nvPr/>
        </p:nvSpPr>
        <p:spPr>
          <a:xfrm>
            <a:off x="562213" y="4833461"/>
            <a:ext cx="8019574" cy="22860"/>
          </a:xfrm>
          <a:prstGeom prst="roundRect">
            <a:avLst>
              <a:gd name="adj" fmla="val 632436"/>
            </a:avLst>
          </a:prstGeom>
          <a:solidFill>
            <a:srgbClr val="B4CCE3"/>
          </a:solidFill>
          <a:ln/>
        </p:spPr>
      </p:sp>
      <p:sp>
        <p:nvSpPr>
          <p:cNvPr id="17" name="Shape 13"/>
          <p:cNvSpPr/>
          <p:nvPr/>
        </p:nvSpPr>
        <p:spPr>
          <a:xfrm>
            <a:off x="4371142" y="4644152"/>
            <a:ext cx="401479" cy="401479"/>
          </a:xfrm>
          <a:prstGeom prst="roundRect">
            <a:avLst>
              <a:gd name="adj" fmla="val 36011"/>
            </a:avLst>
          </a:prstGeom>
          <a:solidFill>
            <a:srgbClr val="FFFFFF"/>
          </a:solidFill>
          <a:ln w="22860">
            <a:solidFill>
              <a:srgbClr val="B4CCE3"/>
            </a:solidFill>
            <a:prstDash val="solid"/>
          </a:ln>
        </p:spPr>
      </p:sp>
      <p:pic>
        <p:nvPicPr>
          <p:cNvPr id="1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71511" y="4744522"/>
            <a:ext cx="200739" cy="200739"/>
          </a:xfrm>
          <a:prstGeom prst="rect">
            <a:avLst/>
          </a:prstGeom>
        </p:spPr>
      </p:pic>
      <p:sp>
        <p:nvSpPr>
          <p:cNvPr id="19" name="Text 14"/>
          <p:cNvSpPr/>
          <p:nvPr/>
        </p:nvSpPr>
        <p:spPr>
          <a:xfrm>
            <a:off x="722828" y="5234940"/>
            <a:ext cx="2007870" cy="250865"/>
          </a:xfrm>
          <a:prstGeom prst="rect">
            <a:avLst/>
          </a:prstGeom>
          <a:noFill/>
          <a:ln/>
        </p:spPr>
        <p:txBody>
          <a:bodyPr wrap="none" lIns="0" tIns="0" rIns="0" bIns="0" rtlCol="0" anchor="t"/>
          <a:lstStyle/>
          <a:p>
            <a:pPr algn="l" indent="0" marL="0">
              <a:lnSpc>
                <a:spcPts val="19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Améliorer la Visibilité</a:t>
            </a:r>
            <a:endParaRPr lang="en-US" sz="1550" dirty="0"/>
          </a:p>
        </p:txBody>
      </p:sp>
      <p:sp>
        <p:nvSpPr>
          <p:cNvPr id="20" name="Text 15"/>
          <p:cNvSpPr/>
          <p:nvPr/>
        </p:nvSpPr>
        <p:spPr>
          <a:xfrm>
            <a:off x="722828" y="5582126"/>
            <a:ext cx="7698343" cy="256937"/>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Comprendre l'état de sécurité global du système.</a:t>
            </a:r>
            <a:endParaRPr lang="en-US" sz="1250" dirty="0"/>
          </a:p>
        </p:txBody>
      </p:sp>
      <p:sp>
        <p:nvSpPr>
          <p:cNvPr id="21" name="Shape 16"/>
          <p:cNvSpPr/>
          <p:nvPr/>
        </p:nvSpPr>
        <p:spPr>
          <a:xfrm>
            <a:off x="562213" y="6240542"/>
            <a:ext cx="8019574" cy="1166217"/>
          </a:xfrm>
          <a:prstGeom prst="rect">
            <a:avLst/>
          </a:prstGeom>
          <a:solidFill>
            <a:srgbClr val="CEE6FD"/>
          </a:solidFill>
          <a:ln/>
        </p:spPr>
      </p:sp>
      <p:sp>
        <p:nvSpPr>
          <p:cNvPr id="22" name="Shape 17"/>
          <p:cNvSpPr/>
          <p:nvPr/>
        </p:nvSpPr>
        <p:spPr>
          <a:xfrm>
            <a:off x="562213" y="6240542"/>
            <a:ext cx="8019574" cy="22860"/>
          </a:xfrm>
          <a:prstGeom prst="roundRect">
            <a:avLst>
              <a:gd name="adj" fmla="val 632436"/>
            </a:avLst>
          </a:prstGeom>
          <a:solidFill>
            <a:srgbClr val="B4CCE3"/>
          </a:solidFill>
          <a:ln/>
        </p:spPr>
      </p:sp>
      <p:sp>
        <p:nvSpPr>
          <p:cNvPr id="23" name="Shape 18"/>
          <p:cNvSpPr/>
          <p:nvPr/>
        </p:nvSpPr>
        <p:spPr>
          <a:xfrm>
            <a:off x="4371142" y="6051233"/>
            <a:ext cx="401479" cy="401479"/>
          </a:xfrm>
          <a:prstGeom prst="roundRect">
            <a:avLst>
              <a:gd name="adj" fmla="val 36011"/>
            </a:avLst>
          </a:prstGeom>
          <a:solidFill>
            <a:srgbClr val="FFFFFF"/>
          </a:solidFill>
          <a:ln w="22860">
            <a:solidFill>
              <a:srgbClr val="B4CCE3"/>
            </a:solidFill>
            <a:prstDash val="solid"/>
          </a:ln>
        </p:spPr>
      </p:sp>
      <p:pic>
        <p:nvPicPr>
          <p:cNvPr id="2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71511" y="6151602"/>
            <a:ext cx="200739" cy="200739"/>
          </a:xfrm>
          <a:prstGeom prst="rect">
            <a:avLst/>
          </a:prstGeom>
        </p:spPr>
      </p:pic>
      <p:sp>
        <p:nvSpPr>
          <p:cNvPr id="25" name="Text 19"/>
          <p:cNvSpPr/>
          <p:nvPr/>
        </p:nvSpPr>
        <p:spPr>
          <a:xfrm>
            <a:off x="722828" y="6642021"/>
            <a:ext cx="2363986" cy="250865"/>
          </a:xfrm>
          <a:prstGeom prst="rect">
            <a:avLst/>
          </a:prstGeom>
          <a:noFill/>
          <a:ln/>
        </p:spPr>
        <p:txBody>
          <a:bodyPr wrap="none" lIns="0" tIns="0" rIns="0" bIns="0" rtlCol="0" anchor="t"/>
          <a:lstStyle/>
          <a:p>
            <a:pPr algn="l" indent="0" marL="0">
              <a:lnSpc>
                <a:spcPts val="1950"/>
              </a:lnSpc>
              <a:buNone/>
            </a:pPr>
            <a:r>
              <a:rPr lang="en-US" sz="1550" dirty="0">
                <a:solidFill>
                  <a:srgbClr val="1E3063"/>
                </a:solidFill>
                <a:latin typeface="Instrument Sans Semi Bold" pitchFamily="34" charset="0"/>
                <a:ea typeface="Instrument Sans Semi Bold" pitchFamily="34" charset="-122"/>
                <a:cs typeface="Instrument Sans Semi Bold" pitchFamily="34" charset="-120"/>
              </a:rPr>
              <a:t>Automatiser la Détection</a:t>
            </a:r>
            <a:endParaRPr lang="en-US" sz="1550" dirty="0"/>
          </a:p>
        </p:txBody>
      </p:sp>
      <p:sp>
        <p:nvSpPr>
          <p:cNvPr id="26" name="Text 20"/>
          <p:cNvSpPr/>
          <p:nvPr/>
        </p:nvSpPr>
        <p:spPr>
          <a:xfrm>
            <a:off x="722828" y="6989207"/>
            <a:ext cx="7698343" cy="256937"/>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Réagir rapidement aux incidents grâce à l'IA.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2026-01-23T19:03:07Z</dcterms:created>
  <dcterms:modified xsi:type="dcterms:W3CDTF">2026-01-23T19:03:07Z</dcterms:modified>
</cp:coreProperties>
</file>